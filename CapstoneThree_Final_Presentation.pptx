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726" autoAdjust="0"/>
  </p:normalViewPr>
  <p:slideViewPr>
    <p:cSldViewPr snapToGrid="0" snapToObjects="1">
      <p:cViewPr varScale="1">
        <p:scale>
          <a:sx n="86" d="100"/>
          <a:sy n="86" d="100"/>
        </p:scale>
        <p:origin x="9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a:pPr>
            <a:r>
              <a:rPr lang="en-US"/>
              <a:t>Distribution of Session Outcomes</a:t>
            </a:r>
          </a:p>
        </c:rich>
      </c:tx>
      <c:overlay val="0"/>
    </c:title>
    <c:autoTitleDeleted val="0"/>
    <c:plotArea>
      <c:layout/>
      <c:barChart>
        <c:barDir val="col"/>
        <c:grouping val="clustered"/>
        <c:varyColors val="1"/>
        <c:ser>
          <c:idx val="0"/>
          <c:order val="0"/>
          <c:tx>
            <c:strRef>
              <c:f>Sheet1!$B$1</c:f>
              <c:strCache>
                <c:ptCount val="1"/>
                <c:pt idx="0">
                  <c:v>Purchase Rate</c:v>
                </c:pt>
              </c:strCache>
            </c:strRef>
          </c:tx>
          <c:spPr>
            <a:solidFill>
              <a:srgbClr val="1E8486"/>
            </a:solidFill>
            <a:ln>
              <a:solidFill>
                <a:srgbClr val="1E8486"/>
              </a:solidFill>
            </a:ln>
          </c:spPr>
          <c:invertIfNegative val="1"/>
          <c:dLbls>
            <c:dLbl>
              <c:idx val="0"/>
              <c:tx>
                <c:rich>
                  <a:bodyPr wrap="square" lIns="38100" tIns="19050" rIns="38100" bIns="19050" anchor="ctr">
                    <a:spAutoFit/>
                  </a:bodyPr>
                  <a:lstStyle/>
                  <a:p>
                    <a:pPr>
                      <a:defRPr sz="1000"/>
                    </a:pPr>
                    <a:fld id="{EF41DD3F-6307-4B04-A7D7-EDBA7C48BAC8}" type="VALUE">
                      <a:rPr lang="en-US" sz="1000"/>
                      <a:pPr>
                        <a:defRPr sz="1000"/>
                      </a:pPr>
                      <a:t>[VALUE]</a:t>
                    </a:fld>
                    <a:endParaRPr 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947-48C4-B065-1FA437890D89}"/>
                </c:ext>
              </c:extLst>
            </c:dLbl>
            <c:dLbl>
              <c:idx val="1"/>
              <c:tx>
                <c:rich>
                  <a:bodyPr/>
                  <a:lstStyle/>
                  <a:p>
                    <a:fld id="{D3C6B79E-48D9-4929-875F-D8B5F5BB8899}" type="VALUE">
                      <a:rPr lang="en-US" sz="100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5947-48C4-B065-1FA437890D89}"/>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No Purchase</c:v>
                </c:pt>
                <c:pt idx="1">
                  <c:v>Purchase</c:v>
                </c:pt>
              </c:strCache>
            </c:strRef>
          </c:cat>
          <c:val>
            <c:numRef>
              <c:f>Sheet1!$B$2:$B$3</c:f>
              <c:numCache>
                <c:formatCode>General</c:formatCode>
                <c:ptCount val="2"/>
                <c:pt idx="0">
                  <c:v>84.5</c:v>
                </c:pt>
                <c:pt idx="1">
                  <c:v>15.5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E8486"/>
                    </a:solidFill>
                  </a:ln>
                </c14:spPr>
              </c14:invertSolidFillFmt>
            </c:ext>
            <c:ext xmlns:c16="http://schemas.microsoft.com/office/drawing/2014/chart" uri="{C3380CC4-5D6E-409C-BE32-E72D297353CC}">
              <c16:uniqueId val="{00000000-5947-48C4-B065-1FA437890D89}"/>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5E9EC"/>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a:pPr>
            <a:r>
              <a:rPr lang="en-US"/>
              <a:t>Purchase Rate by Visitor Type</a:t>
            </a:r>
          </a:p>
        </c:rich>
      </c:tx>
      <c:overlay val="0"/>
    </c:title>
    <c:autoTitleDeleted val="0"/>
    <c:plotArea>
      <c:layout/>
      <c:barChart>
        <c:barDir val="col"/>
        <c:grouping val="clustered"/>
        <c:varyColors val="1"/>
        <c:ser>
          <c:idx val="0"/>
          <c:order val="0"/>
          <c:tx>
            <c:strRef>
              <c:f>Sheet1!$B$1</c:f>
              <c:strCache>
                <c:ptCount val="1"/>
                <c:pt idx="0">
                  <c:v>Purchase Rate</c:v>
                </c:pt>
              </c:strCache>
            </c:strRef>
          </c:tx>
          <c:spPr>
            <a:solidFill>
              <a:srgbClr val="1E8486"/>
            </a:solidFill>
            <a:ln>
              <a:solidFill>
                <a:srgbClr val="1E8486"/>
              </a:solidFill>
            </a:ln>
          </c:spPr>
          <c:invertIfNegative val="1"/>
          <c:dLbls>
            <c:dLbl>
              <c:idx val="0"/>
              <c:tx>
                <c:rich>
                  <a:bodyPr/>
                  <a:lstStyle/>
                  <a:p>
                    <a:fld id="{3DD67688-9A44-471C-A781-3895FC0AA2A0}" type="VALUE">
                      <a:rPr lang="en-US" sz="100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23B-4DCF-BBDC-43A631C0740E}"/>
                </c:ext>
              </c:extLst>
            </c:dLbl>
            <c:dLbl>
              <c:idx val="1"/>
              <c:tx>
                <c:rich>
                  <a:bodyPr/>
                  <a:lstStyle/>
                  <a:p>
                    <a:fld id="{08C0A6B5-6736-4221-A535-3628C8341FC2}" type="VALUE">
                      <a:rPr lang="en-US" sz="100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23B-4DCF-BBDC-43A631C0740E}"/>
                </c:ext>
              </c:extLst>
            </c:dLbl>
            <c:dLbl>
              <c:idx val="2"/>
              <c:tx>
                <c:rich>
                  <a:bodyPr/>
                  <a:lstStyle/>
                  <a:p>
                    <a:fld id="{A94C4796-158F-43B2-8BA3-D413EE7E1670}" type="VALUE">
                      <a:rPr lang="en-US" sz="100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23B-4DCF-BBDC-43A631C0740E}"/>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New</c:v>
                </c:pt>
                <c:pt idx="1">
                  <c:v>Returning</c:v>
                </c:pt>
                <c:pt idx="2">
                  <c:v>Other</c:v>
                </c:pt>
              </c:strCache>
            </c:strRef>
          </c:cat>
          <c:val>
            <c:numRef>
              <c:f>Sheet1!$B$2:$B$4</c:f>
              <c:numCache>
                <c:formatCode>General</c:formatCode>
                <c:ptCount val="3"/>
                <c:pt idx="0">
                  <c:v>24.9</c:v>
                </c:pt>
                <c:pt idx="1">
                  <c:v>13.9</c:v>
                </c:pt>
                <c:pt idx="2">
                  <c:v>18.8</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E8486"/>
                    </a:solidFill>
                  </a:ln>
                </c14:spPr>
              </c14:invertSolidFillFmt>
            </c:ext>
            <c:ext xmlns:c16="http://schemas.microsoft.com/office/drawing/2014/chart" uri="{C3380CC4-5D6E-409C-BE32-E72D297353CC}">
              <c16:uniqueId val="{00000000-F23B-4DCF-BBDC-43A631C0740E}"/>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5E9EC"/>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a:pPr>
            <a:r>
              <a:rPr lang="en-US"/>
              <a:t>Purchase Rate by Month</a:t>
            </a:r>
          </a:p>
        </c:rich>
      </c:tx>
      <c:overlay val="0"/>
    </c:title>
    <c:autoTitleDeleted val="0"/>
    <c:plotArea>
      <c:layout/>
      <c:barChart>
        <c:barDir val="col"/>
        <c:grouping val="clustered"/>
        <c:varyColors val="1"/>
        <c:ser>
          <c:idx val="0"/>
          <c:order val="0"/>
          <c:tx>
            <c:strRef>
              <c:f>Sheet1!$B$1</c:f>
              <c:strCache>
                <c:ptCount val="1"/>
                <c:pt idx="0">
                  <c:v>Purchase Rate</c:v>
                </c:pt>
              </c:strCache>
            </c:strRef>
          </c:tx>
          <c:spPr>
            <a:solidFill>
              <a:srgbClr val="1E8486"/>
            </a:solidFill>
            <a:ln>
              <a:solidFill>
                <a:srgbClr val="1E8486"/>
              </a:solidFill>
            </a:ln>
          </c:spPr>
          <c:invertIfNegative val="1"/>
          <c:dLbls>
            <c:spPr>
              <a:noFill/>
              <a:ln>
                <a:noFill/>
              </a:ln>
              <a:effectLst/>
            </c:spPr>
            <c:txPr>
              <a:bodyPr wrap="square" lIns="38100" tIns="19050" rIns="38100" bIns="19050" anchor="ctr">
                <a:spAutoFit/>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Feb</c:v>
                </c:pt>
                <c:pt idx="1">
                  <c:v>Mar</c:v>
                </c:pt>
                <c:pt idx="2">
                  <c:v>May</c:v>
                </c:pt>
                <c:pt idx="3">
                  <c:v>Jun</c:v>
                </c:pt>
                <c:pt idx="4">
                  <c:v>Jul</c:v>
                </c:pt>
                <c:pt idx="5">
                  <c:v>Aug</c:v>
                </c:pt>
                <c:pt idx="6">
                  <c:v>Sep</c:v>
                </c:pt>
                <c:pt idx="7">
                  <c:v>Oct</c:v>
                </c:pt>
                <c:pt idx="8">
                  <c:v>Nov</c:v>
                </c:pt>
                <c:pt idx="9">
                  <c:v>Dec</c:v>
                </c:pt>
              </c:strCache>
            </c:strRef>
          </c:cat>
          <c:val>
            <c:numRef>
              <c:f>Sheet1!$B$2:$B$11</c:f>
              <c:numCache>
                <c:formatCode>General</c:formatCode>
                <c:ptCount val="10"/>
                <c:pt idx="0">
                  <c:v>1.6</c:v>
                </c:pt>
                <c:pt idx="1">
                  <c:v>10.1</c:v>
                </c:pt>
                <c:pt idx="2">
                  <c:v>10.9</c:v>
                </c:pt>
                <c:pt idx="3">
                  <c:v>10.1</c:v>
                </c:pt>
                <c:pt idx="4">
                  <c:v>15.3</c:v>
                </c:pt>
                <c:pt idx="5">
                  <c:v>17.600000000000001</c:v>
                </c:pt>
                <c:pt idx="6">
                  <c:v>19.2</c:v>
                </c:pt>
                <c:pt idx="7">
                  <c:v>20.9</c:v>
                </c:pt>
                <c:pt idx="8">
                  <c:v>25.4</c:v>
                </c:pt>
                <c:pt idx="9">
                  <c:v>12.5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E8486"/>
                    </a:solidFill>
                  </a:ln>
                </c14:spPr>
              </c14:invertSolidFillFmt>
            </c:ext>
            <c:ext xmlns:c16="http://schemas.microsoft.com/office/drawing/2014/chart" uri="{C3380CC4-5D6E-409C-BE32-E72D297353CC}">
              <c16:uniqueId val="{00000000-38E8-4CCA-850F-12E721DC98E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5E9EC"/>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ABC2A-F739-4399-A017-D7CFB4298A30}"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57A93-3F15-42CC-B34A-D11D5D969A1B}" type="slidenum">
              <a:rPr lang="en-US" smtClean="0"/>
              <a:t>‹#›</a:t>
            </a:fld>
            <a:endParaRPr lang="en-US"/>
          </a:p>
        </p:txBody>
      </p:sp>
    </p:spTree>
    <p:extLst>
      <p:ext uri="{BB962C8B-B14F-4D97-AF65-F5344CB8AC3E}">
        <p14:creationId xmlns:p14="http://schemas.microsoft.com/office/powerpoint/2010/main" val="393089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1</a:t>
            </a:fld>
            <a:endParaRPr lang="en-US"/>
          </a:p>
        </p:txBody>
      </p:sp>
    </p:spTree>
    <p:extLst>
      <p:ext uri="{BB962C8B-B14F-4D97-AF65-F5344CB8AC3E}">
        <p14:creationId xmlns:p14="http://schemas.microsoft.com/office/powerpoint/2010/main" val="4108611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100"/>
              </a:spcAft>
              <a:defRPr sz="2000">
                <a:solidFill>
                  <a:srgbClr val="373C41"/>
                </a:solidFill>
                <a:latin typeface="Aptos"/>
              </a:defRPr>
            </a:pPr>
            <a:r>
              <a:rPr lang="en-US" dirty="0"/>
              <a:t>Most online shopping sessions do not result in a purchase.</a:t>
            </a:r>
          </a:p>
          <a:p>
            <a:pPr>
              <a:spcAft>
                <a:spcPts val="1100"/>
              </a:spcAft>
              <a:defRPr sz="2000">
                <a:solidFill>
                  <a:srgbClr val="373C41"/>
                </a:solidFill>
                <a:latin typeface="Aptos"/>
              </a:defRPr>
            </a:pPr>
            <a:r>
              <a:rPr lang="en-US" dirty="0"/>
              <a:t>Businesses have limited opportunities to engage visitors before they leave.</a:t>
            </a:r>
          </a:p>
          <a:p>
            <a:pPr>
              <a:spcAft>
                <a:spcPts val="1100"/>
              </a:spcAft>
              <a:defRPr sz="2000">
                <a:solidFill>
                  <a:srgbClr val="373C41"/>
                </a:solidFill>
                <a:latin typeface="Aptos"/>
              </a:defRPr>
            </a:pPr>
            <a:r>
              <a:rPr lang="en-US" dirty="0"/>
              <a:t>Identifying higher-intent sessions could support more targeted marketing, personalization, and customer experience interventions.</a:t>
            </a:r>
          </a:p>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3</a:t>
            </a:fld>
            <a:endParaRPr lang="en-US"/>
          </a:p>
        </p:txBody>
      </p:sp>
    </p:spTree>
    <p:extLst>
      <p:ext uri="{BB962C8B-B14F-4D97-AF65-F5344CB8AC3E}">
        <p14:creationId xmlns:p14="http://schemas.microsoft.com/office/powerpoint/2010/main" val="3813308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5</a:t>
            </a:fld>
            <a:endParaRPr lang="en-US"/>
          </a:p>
        </p:txBody>
      </p:sp>
    </p:spTree>
    <p:extLst>
      <p:ext uri="{BB962C8B-B14F-4D97-AF65-F5344CB8AC3E}">
        <p14:creationId xmlns:p14="http://schemas.microsoft.com/office/powerpoint/2010/main" val="3613493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100"/>
              </a:spcAft>
              <a:defRPr sz="1700">
                <a:solidFill>
                  <a:srgbClr val="373C41"/>
                </a:solidFill>
                <a:latin typeface="Aptos"/>
              </a:defRPr>
            </a:pPr>
            <a:r>
              <a:rPr lang="en-US" dirty="0"/>
              <a:t>No observations required removal or imputation.</a:t>
            </a:r>
          </a:p>
          <a:p>
            <a:pPr>
              <a:spcAft>
                <a:spcPts val="1100"/>
              </a:spcAft>
              <a:defRPr sz="1700">
                <a:solidFill>
                  <a:srgbClr val="373C41"/>
                </a:solidFill>
                <a:latin typeface="Aptos"/>
              </a:defRPr>
            </a:pPr>
            <a:r>
              <a:rPr lang="en-US" dirty="0"/>
              <a:t>Preprocessing was fit on training data only to prevent data leakage.</a:t>
            </a:r>
          </a:p>
          <a:p>
            <a:pPr>
              <a:spcAft>
                <a:spcPts val="1100"/>
              </a:spcAft>
              <a:defRPr sz="1700">
                <a:solidFill>
                  <a:srgbClr val="373C41"/>
                </a:solidFill>
                <a:latin typeface="Aptos"/>
              </a:defRPr>
            </a:pPr>
            <a:r>
              <a:rPr lang="en-US" dirty="0"/>
              <a:t>17 original predictors became 74 model-ready features after encoding.</a:t>
            </a:r>
          </a:p>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6</a:t>
            </a:fld>
            <a:endParaRPr lang="en-US"/>
          </a:p>
        </p:txBody>
      </p:sp>
    </p:spTree>
    <p:extLst>
      <p:ext uri="{BB962C8B-B14F-4D97-AF65-F5344CB8AC3E}">
        <p14:creationId xmlns:p14="http://schemas.microsoft.com/office/powerpoint/2010/main" val="2312153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7</a:t>
            </a:fld>
            <a:endParaRPr lang="en-US"/>
          </a:p>
        </p:txBody>
      </p:sp>
    </p:spTree>
    <p:extLst>
      <p:ext uri="{BB962C8B-B14F-4D97-AF65-F5344CB8AC3E}">
        <p14:creationId xmlns:p14="http://schemas.microsoft.com/office/powerpoint/2010/main" val="3217921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100"/>
              </a:spcAft>
              <a:defRPr sz="1500">
                <a:solidFill>
                  <a:srgbClr val="373C41"/>
                </a:solidFill>
                <a:latin typeface="Aptos"/>
              </a:defRPr>
            </a:pPr>
            <a:r>
              <a:rPr lang="en-US" dirty="0"/>
              <a:t>New visitors had the highest observed purchase rate.</a:t>
            </a:r>
          </a:p>
          <a:p>
            <a:pPr>
              <a:spcAft>
                <a:spcPts val="1100"/>
              </a:spcAft>
              <a:defRPr sz="1500">
                <a:solidFill>
                  <a:srgbClr val="373C41"/>
                </a:solidFill>
                <a:latin typeface="Aptos"/>
              </a:defRPr>
            </a:pPr>
            <a:r>
              <a:rPr lang="en-US" dirty="0"/>
              <a:t>Returning visitors represented most sessions but had the lowest purchase rate.</a:t>
            </a:r>
          </a:p>
          <a:p>
            <a:pPr>
              <a:spcAft>
                <a:spcPts val="1100"/>
              </a:spcAft>
              <a:defRPr sz="1500">
                <a:solidFill>
                  <a:srgbClr val="373C41"/>
                </a:solidFill>
                <a:latin typeface="Aptos"/>
              </a:defRPr>
            </a:pPr>
            <a:r>
              <a:rPr lang="en-US" dirty="0"/>
              <a:t>More direct measures of engagement provide a richer picture of purchase intent.</a:t>
            </a:r>
          </a:p>
          <a:p>
            <a:pPr>
              <a:spcAft>
                <a:spcPts val="1100"/>
              </a:spcAft>
              <a:defRPr sz="1600">
                <a:solidFill>
                  <a:srgbClr val="373C41"/>
                </a:solidFill>
                <a:latin typeface="Aptos"/>
              </a:defRPr>
            </a:pPr>
            <a:r>
              <a:rPr lang="en-US" dirty="0"/>
              <a:t>Purchase rates generally increased during the later months represented in the dataset.</a:t>
            </a:r>
          </a:p>
          <a:p>
            <a:pPr>
              <a:spcAft>
                <a:spcPts val="1100"/>
              </a:spcAft>
              <a:defRPr sz="1600">
                <a:solidFill>
                  <a:srgbClr val="373C41"/>
                </a:solidFill>
                <a:latin typeface="Aptos"/>
              </a:defRPr>
            </a:pPr>
            <a:r>
              <a:rPr lang="en-US" dirty="0"/>
              <a:t>The fall and holiday period showed higher observed purchase rates.</a:t>
            </a:r>
          </a:p>
          <a:p>
            <a:pPr>
              <a:spcAft>
                <a:spcPts val="1100"/>
              </a:spcAft>
              <a:defRPr sz="1600">
                <a:solidFill>
                  <a:srgbClr val="373C41"/>
                </a:solidFill>
                <a:latin typeface="Aptos"/>
              </a:defRPr>
            </a:pPr>
            <a:r>
              <a:rPr lang="en-US" dirty="0"/>
              <a:t>Month added useful context, but engagement behavior remained more influential.</a:t>
            </a:r>
          </a:p>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8</a:t>
            </a:fld>
            <a:endParaRPr lang="en-US"/>
          </a:p>
        </p:txBody>
      </p:sp>
    </p:spTree>
    <p:extLst>
      <p:ext uri="{BB962C8B-B14F-4D97-AF65-F5344CB8AC3E}">
        <p14:creationId xmlns:p14="http://schemas.microsoft.com/office/powerpoint/2010/main" val="64962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9</a:t>
            </a:fld>
            <a:endParaRPr lang="en-US"/>
          </a:p>
        </p:txBody>
      </p:sp>
    </p:spTree>
    <p:extLst>
      <p:ext uri="{BB962C8B-B14F-4D97-AF65-F5344CB8AC3E}">
        <p14:creationId xmlns:p14="http://schemas.microsoft.com/office/powerpoint/2010/main" val="121803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10</a:t>
            </a:fld>
            <a:endParaRPr lang="en-US"/>
          </a:p>
        </p:txBody>
      </p:sp>
    </p:spTree>
    <p:extLst>
      <p:ext uri="{BB962C8B-B14F-4D97-AF65-F5344CB8AC3E}">
        <p14:creationId xmlns:p14="http://schemas.microsoft.com/office/powerpoint/2010/main" val="3270382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real business setting, the optimal prediction threshold should ultimately depend on the relative cost of missing a potential purchaser versus the cost of unnecessarily targeting a customer who would not have purchased.</a:t>
            </a:r>
          </a:p>
        </p:txBody>
      </p:sp>
      <p:sp>
        <p:nvSpPr>
          <p:cNvPr id="4" name="Slide Number Placeholder 3"/>
          <p:cNvSpPr>
            <a:spLocks noGrp="1"/>
          </p:cNvSpPr>
          <p:nvPr>
            <p:ph type="sldNum" sz="quarter" idx="5"/>
          </p:nvPr>
        </p:nvSpPr>
        <p:spPr/>
        <p:txBody>
          <a:bodyPr/>
          <a:lstStyle/>
          <a:p>
            <a:fld id="{8C657A93-3F15-42CC-B34A-D11D5D969A1B}" type="slidenum">
              <a:rPr lang="en-US" smtClean="0"/>
              <a:t>12</a:t>
            </a:fld>
            <a:endParaRPr lang="en-US"/>
          </a:p>
        </p:txBody>
      </p:sp>
    </p:spTree>
    <p:extLst>
      <p:ext uri="{BB962C8B-B14F-4D97-AF65-F5344CB8AC3E}">
        <p14:creationId xmlns:p14="http://schemas.microsoft.com/office/powerpoint/2010/main" val="902874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implementation question is whether purchase intent can be identified early enough in the session for the business to act on it.</a:t>
            </a:r>
          </a:p>
        </p:txBody>
      </p:sp>
      <p:sp>
        <p:nvSpPr>
          <p:cNvPr id="4" name="Slide Number Placeholder 3"/>
          <p:cNvSpPr>
            <a:spLocks noGrp="1"/>
          </p:cNvSpPr>
          <p:nvPr>
            <p:ph type="sldNum" sz="quarter" idx="5"/>
          </p:nvPr>
        </p:nvSpPr>
        <p:spPr/>
        <p:txBody>
          <a:bodyPr/>
          <a:lstStyle/>
          <a:p>
            <a:fld id="{8C657A93-3F15-42CC-B34A-D11D5D969A1B}" type="slidenum">
              <a:rPr lang="en-US" smtClean="0"/>
              <a:t>14</a:t>
            </a:fld>
            <a:endParaRPr lang="en-US"/>
          </a:p>
        </p:txBody>
      </p:sp>
    </p:spTree>
    <p:extLst>
      <p:ext uri="{BB962C8B-B14F-4D97-AF65-F5344CB8AC3E}">
        <p14:creationId xmlns:p14="http://schemas.microsoft.com/office/powerpoint/2010/main" val="3828698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57A93-3F15-42CC-B34A-D11D5D969A1B}" type="slidenum">
              <a:rPr lang="en-US" smtClean="0"/>
              <a:t>15</a:t>
            </a:fld>
            <a:endParaRPr lang="en-US"/>
          </a:p>
        </p:txBody>
      </p:sp>
    </p:spTree>
    <p:extLst>
      <p:ext uri="{BB962C8B-B14F-4D97-AF65-F5344CB8AC3E}">
        <p14:creationId xmlns:p14="http://schemas.microsoft.com/office/powerpoint/2010/main" val="497974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338"/>
        </a:solidFill>
        <a:effectLst/>
      </p:bgPr>
    </p:bg>
    <p:spTree>
      <p:nvGrpSpPr>
        <p:cNvPr id="1" name=""/>
        <p:cNvGrpSpPr/>
        <p:nvPr/>
      </p:nvGrpSpPr>
      <p:grpSpPr>
        <a:xfrm>
          <a:off x="0" y="0"/>
          <a:ext cx="0" cy="0"/>
          <a:chOff x="0" y="0"/>
          <a:chExt cx="0" cy="0"/>
        </a:xfrm>
      </p:grpSpPr>
      <p:sp>
        <p:nvSpPr>
          <p:cNvPr id="2" name="Oval 1"/>
          <p:cNvSpPr/>
          <p:nvPr/>
        </p:nvSpPr>
        <p:spPr>
          <a:xfrm>
            <a:off x="8961120" y="731520"/>
            <a:ext cx="914400" cy="914400"/>
          </a:xfrm>
          <a:prstGeom prst="ellipse">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1508760"/>
            <a:ext cx="502920" cy="502920"/>
          </a:xfrm>
          <a:prstGeom prst="ellipse">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0" y="2468880"/>
            <a:ext cx="731520" cy="731520"/>
          </a:xfrm>
          <a:prstGeom prst="ellipse">
            <a:avLst/>
          </a:prstGeom>
          <a:solidFill>
            <a:srgbClr val="EE765C"/>
          </a:solidFill>
          <a:ln>
            <a:solidFill>
              <a:srgbClr val="EE7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52760" y="3108960"/>
            <a:ext cx="868680" cy="868680"/>
          </a:xfrm>
          <a:prstGeom prst="ellipse">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95360" y="3840480"/>
            <a:ext cx="548640" cy="548640"/>
          </a:xfrm>
          <a:prstGeom prst="ellipse">
            <a:avLst/>
          </a:prstGeom>
          <a:solidFill>
            <a:srgbClr val="E0B154"/>
          </a:solidFill>
          <a:ln>
            <a:solidFill>
              <a:srgbClr val="E0B1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9372600" y="1188720"/>
            <a:ext cx="868680" cy="548640"/>
          </a:xfrm>
          <a:prstGeom prst="line">
            <a:avLst/>
          </a:prstGeom>
          <a:ln w="25400">
            <a:solidFill>
              <a:srgbClr val="69C9C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692640" y="1828800"/>
            <a:ext cx="548640" cy="914400"/>
          </a:xfrm>
          <a:prstGeom prst="line">
            <a:avLst/>
          </a:prstGeom>
          <a:ln w="25400">
            <a:solidFill>
              <a:srgbClr val="69C9C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92640" y="2743200"/>
            <a:ext cx="1188720" cy="731520"/>
          </a:xfrm>
          <a:prstGeom prst="line">
            <a:avLst/>
          </a:prstGeom>
          <a:ln w="25400">
            <a:solidFill>
              <a:srgbClr val="69C9C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961120" y="3657600"/>
            <a:ext cx="1828800" cy="457200"/>
          </a:xfrm>
          <a:prstGeom prst="line">
            <a:avLst/>
          </a:prstGeom>
          <a:ln w="25400">
            <a:solidFill>
              <a:srgbClr val="69C9C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594360"/>
            <a:ext cx="4754880" cy="307777"/>
          </a:xfrm>
          <a:prstGeom prst="rect">
            <a:avLst/>
          </a:prstGeom>
          <a:noFill/>
        </p:spPr>
        <p:txBody>
          <a:bodyPr wrap="square" lIns="45720" rIns="45720" anchor="t">
            <a:spAutoFit/>
          </a:bodyPr>
          <a:lstStyle/>
          <a:p>
            <a:pPr algn="l">
              <a:defRPr sz="1000" b="1">
                <a:solidFill>
                  <a:srgbClr val="69C9C4"/>
                </a:solidFill>
                <a:latin typeface="Aptos"/>
              </a:defRPr>
            </a:pPr>
            <a:r>
              <a:rPr sz="1400" dirty="0"/>
              <a:t>SPRINGBOARD DATA SCIENCE CAPSTONE</a:t>
            </a:r>
          </a:p>
        </p:txBody>
      </p:sp>
      <p:sp>
        <p:nvSpPr>
          <p:cNvPr id="12" name="TextBox 11"/>
          <p:cNvSpPr txBox="1"/>
          <p:nvPr/>
        </p:nvSpPr>
        <p:spPr>
          <a:xfrm>
            <a:off x="685800" y="1143000"/>
            <a:ext cx="7772400" cy="1554480"/>
          </a:xfrm>
          <a:prstGeom prst="rect">
            <a:avLst/>
          </a:prstGeom>
          <a:noFill/>
        </p:spPr>
        <p:txBody>
          <a:bodyPr wrap="square" lIns="45720" rIns="45720" anchor="t">
            <a:spAutoFit/>
          </a:bodyPr>
          <a:lstStyle/>
          <a:p>
            <a:pPr algn="l">
              <a:defRPr sz="3400" b="1">
                <a:solidFill>
                  <a:srgbClr val="FFFFFF"/>
                </a:solidFill>
                <a:latin typeface="Aptos"/>
              </a:defRPr>
            </a:pPr>
            <a:r>
              <a:rPr dirty="0"/>
              <a:t>Predicting Online Shopper</a:t>
            </a:r>
            <a:br>
              <a:rPr dirty="0"/>
            </a:br>
            <a:r>
              <a:rPr dirty="0"/>
              <a:t>Purchase Intent</a:t>
            </a:r>
          </a:p>
        </p:txBody>
      </p:sp>
      <p:sp>
        <p:nvSpPr>
          <p:cNvPr id="13" name="TextBox 12"/>
          <p:cNvSpPr txBox="1"/>
          <p:nvPr/>
        </p:nvSpPr>
        <p:spPr>
          <a:xfrm>
            <a:off x="713232" y="2971800"/>
            <a:ext cx="7132320" cy="707886"/>
          </a:xfrm>
          <a:prstGeom prst="rect">
            <a:avLst/>
          </a:prstGeom>
          <a:noFill/>
        </p:spPr>
        <p:txBody>
          <a:bodyPr wrap="square" lIns="45720" rIns="45720" anchor="t">
            <a:spAutoFit/>
          </a:bodyPr>
          <a:lstStyle/>
          <a:p>
            <a:pPr algn="l">
              <a:defRPr sz="1600" b="0">
                <a:solidFill>
                  <a:srgbClr val="D0DBE3"/>
                </a:solidFill>
                <a:latin typeface="Aptos"/>
              </a:defRPr>
            </a:pPr>
            <a:r>
              <a:rPr sz="2000" dirty="0"/>
              <a:t>Using machine learning to turn browsing behavior into signals of purchase intent</a:t>
            </a:r>
          </a:p>
        </p:txBody>
      </p:sp>
      <p:sp>
        <p:nvSpPr>
          <p:cNvPr id="14" name="Rectangle 13"/>
          <p:cNvSpPr/>
          <p:nvPr/>
        </p:nvSpPr>
        <p:spPr>
          <a:xfrm>
            <a:off x="713232" y="3858768"/>
            <a:ext cx="1234440" cy="54864"/>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4709160"/>
            <a:ext cx="2743200" cy="365760"/>
          </a:xfrm>
          <a:prstGeom prst="rect">
            <a:avLst/>
          </a:prstGeom>
          <a:noFill/>
        </p:spPr>
        <p:txBody>
          <a:bodyPr wrap="square" lIns="45720" rIns="45720" anchor="t">
            <a:spAutoFit/>
          </a:bodyPr>
          <a:lstStyle/>
          <a:p>
            <a:pPr algn="l">
              <a:defRPr sz="1400" b="1">
                <a:solidFill>
                  <a:srgbClr val="FFFFFF"/>
                </a:solidFill>
                <a:latin typeface="Aptos"/>
              </a:defRPr>
            </a:pPr>
            <a:r>
              <a:rPr dirty="0"/>
              <a:t>Gayathri Ramani</a:t>
            </a:r>
          </a:p>
        </p:txBody>
      </p:sp>
      <p:sp>
        <p:nvSpPr>
          <p:cNvPr id="16" name="TextBox 15"/>
          <p:cNvSpPr txBox="1"/>
          <p:nvPr/>
        </p:nvSpPr>
        <p:spPr>
          <a:xfrm>
            <a:off x="713232" y="5102352"/>
            <a:ext cx="3931920" cy="276999"/>
          </a:xfrm>
          <a:prstGeom prst="rect">
            <a:avLst/>
          </a:prstGeom>
          <a:noFill/>
        </p:spPr>
        <p:txBody>
          <a:bodyPr wrap="square" lIns="45720" rIns="45720" anchor="t">
            <a:spAutoFit/>
          </a:bodyPr>
          <a:lstStyle/>
          <a:p>
            <a:pPr algn="l">
              <a:defRPr sz="1100" b="0">
                <a:solidFill>
                  <a:srgbClr val="D0DBE3"/>
                </a:solidFill>
                <a:latin typeface="Aptos"/>
              </a:defRPr>
            </a:pPr>
            <a:r>
              <a:rPr sz="1200" dirty="0"/>
              <a:t>Springboard Data Science Career Track</a:t>
            </a:r>
          </a:p>
        </p:txBody>
      </p:sp>
      <p:sp>
        <p:nvSpPr>
          <p:cNvPr id="17" name="TextBox 16"/>
          <p:cNvSpPr txBox="1"/>
          <p:nvPr/>
        </p:nvSpPr>
        <p:spPr>
          <a:xfrm>
            <a:off x="713232" y="5897880"/>
            <a:ext cx="1234440" cy="276999"/>
          </a:xfrm>
          <a:prstGeom prst="rect">
            <a:avLst/>
          </a:prstGeom>
          <a:noFill/>
        </p:spPr>
        <p:txBody>
          <a:bodyPr wrap="square" lIns="45720" rIns="45720" anchor="t">
            <a:spAutoFit/>
          </a:bodyPr>
          <a:lstStyle/>
          <a:p>
            <a:pPr algn="l">
              <a:defRPr sz="1000" b="1">
                <a:solidFill>
                  <a:srgbClr val="69C9C4"/>
                </a:solidFill>
                <a:latin typeface="Aptos"/>
              </a:defRPr>
            </a:pPr>
            <a:r>
              <a:rPr lang="en-US" sz="1200" dirty="0"/>
              <a:t>August </a:t>
            </a:r>
            <a:r>
              <a:rPr sz="1200" dirty="0"/>
              <a:t>2026</a:t>
            </a:r>
          </a:p>
        </p:txBody>
      </p:sp>
      <p:sp>
        <p:nvSpPr>
          <p:cNvPr id="18" name="TextBox 17"/>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EXECUTIVE SUMMARY</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From browsing data to purchase signals</a:t>
            </a:r>
          </a:p>
        </p:txBody>
      </p:sp>
      <p:sp>
        <p:nvSpPr>
          <p:cNvPr id="4" name="TextBox 3"/>
          <p:cNvSpPr txBox="1"/>
          <p:nvPr/>
        </p:nvSpPr>
        <p:spPr>
          <a:xfrm>
            <a:off x="640080" y="1353312"/>
            <a:ext cx="10515600" cy="338554"/>
          </a:xfrm>
          <a:prstGeom prst="rect">
            <a:avLst/>
          </a:prstGeom>
          <a:noFill/>
        </p:spPr>
        <p:txBody>
          <a:bodyPr wrap="square" lIns="45720" rIns="45720" anchor="t">
            <a:spAutoFit/>
          </a:bodyPr>
          <a:lstStyle/>
          <a:p>
            <a:pPr algn="l">
              <a:defRPr sz="1200" b="0">
                <a:solidFill>
                  <a:srgbClr val="6A7580"/>
                </a:solidFill>
                <a:latin typeface="Aptos"/>
              </a:defRPr>
            </a:pPr>
            <a:r>
              <a:rPr sz="1600" dirty="0"/>
              <a:t>A business-focused view of the project and its strongest findings.</a:t>
            </a:r>
          </a:p>
        </p:txBody>
      </p:sp>
      <p:sp>
        <p:nvSpPr>
          <p:cNvPr id="5" name="Rectangle 4"/>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2240280"/>
            <a:ext cx="242316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423160"/>
            <a:ext cx="2020824" cy="584775"/>
          </a:xfrm>
          <a:prstGeom prst="rect">
            <a:avLst/>
          </a:prstGeom>
          <a:noFill/>
        </p:spPr>
        <p:txBody>
          <a:bodyPr wrap="square" lIns="45720" rIns="45720" anchor="t">
            <a:spAutoFit/>
          </a:bodyPr>
          <a:lstStyle/>
          <a:p>
            <a:pPr algn="l">
              <a:defRPr sz="2500" b="1">
                <a:solidFill>
                  <a:srgbClr val="1E8486"/>
                </a:solidFill>
                <a:latin typeface="Aptos"/>
              </a:defRPr>
            </a:pPr>
            <a:r>
              <a:rPr sz="3200" dirty="0"/>
              <a:t>12,330</a:t>
            </a:r>
          </a:p>
        </p:txBody>
      </p:sp>
      <p:sp>
        <p:nvSpPr>
          <p:cNvPr id="8" name="TextBox 7"/>
          <p:cNvSpPr txBox="1"/>
          <p:nvPr/>
        </p:nvSpPr>
        <p:spPr>
          <a:xfrm>
            <a:off x="886968" y="2990088"/>
            <a:ext cx="2020824" cy="523220"/>
          </a:xfrm>
          <a:prstGeom prst="rect">
            <a:avLst/>
          </a:prstGeom>
          <a:noFill/>
        </p:spPr>
        <p:txBody>
          <a:bodyPr wrap="square" lIns="45720" rIns="45720" anchor="t">
            <a:spAutoFit/>
          </a:bodyPr>
          <a:lstStyle/>
          <a:p>
            <a:pPr algn="l">
              <a:defRPr sz="1100" b="1">
                <a:solidFill>
                  <a:srgbClr val="2D353D"/>
                </a:solidFill>
                <a:latin typeface="Aptos"/>
              </a:defRPr>
            </a:pPr>
            <a:r>
              <a:rPr sz="1400" dirty="0"/>
              <a:t>Online shopping sessions</a:t>
            </a:r>
          </a:p>
        </p:txBody>
      </p:sp>
      <p:sp>
        <p:nvSpPr>
          <p:cNvPr id="9" name="Rounded Rectangle 8"/>
          <p:cNvSpPr/>
          <p:nvPr/>
        </p:nvSpPr>
        <p:spPr>
          <a:xfrm>
            <a:off x="3337560" y="2240280"/>
            <a:ext cx="242316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38728" y="2423160"/>
            <a:ext cx="2020824" cy="584775"/>
          </a:xfrm>
          <a:prstGeom prst="rect">
            <a:avLst/>
          </a:prstGeom>
          <a:noFill/>
        </p:spPr>
        <p:txBody>
          <a:bodyPr wrap="square" lIns="45720" rIns="45720" anchor="t">
            <a:spAutoFit/>
          </a:bodyPr>
          <a:lstStyle/>
          <a:p>
            <a:pPr algn="l">
              <a:defRPr sz="2500" b="1">
                <a:solidFill>
                  <a:srgbClr val="EE765C"/>
                </a:solidFill>
                <a:latin typeface="Aptos"/>
              </a:defRPr>
            </a:pPr>
            <a:r>
              <a:rPr sz="3200" dirty="0"/>
              <a:t>15.5%</a:t>
            </a:r>
          </a:p>
        </p:txBody>
      </p:sp>
      <p:sp>
        <p:nvSpPr>
          <p:cNvPr id="11" name="TextBox 10"/>
          <p:cNvSpPr txBox="1"/>
          <p:nvPr/>
        </p:nvSpPr>
        <p:spPr>
          <a:xfrm>
            <a:off x="3538728" y="2990088"/>
            <a:ext cx="2020824" cy="523220"/>
          </a:xfrm>
          <a:prstGeom prst="rect">
            <a:avLst/>
          </a:prstGeom>
          <a:noFill/>
        </p:spPr>
        <p:txBody>
          <a:bodyPr wrap="square" lIns="45720" rIns="45720" anchor="t">
            <a:spAutoFit/>
          </a:bodyPr>
          <a:lstStyle/>
          <a:p>
            <a:pPr algn="l">
              <a:defRPr sz="1100" b="1">
                <a:solidFill>
                  <a:srgbClr val="2D353D"/>
                </a:solidFill>
                <a:latin typeface="Aptos"/>
              </a:defRPr>
            </a:pPr>
            <a:r>
              <a:rPr sz="1400" dirty="0"/>
              <a:t>Sessions resulted in a purchase</a:t>
            </a:r>
          </a:p>
        </p:txBody>
      </p:sp>
      <p:sp>
        <p:nvSpPr>
          <p:cNvPr id="12" name="Rounded Rectangle 11"/>
          <p:cNvSpPr/>
          <p:nvPr/>
        </p:nvSpPr>
        <p:spPr>
          <a:xfrm>
            <a:off x="5989320" y="2240280"/>
            <a:ext cx="242316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0488" y="2423160"/>
            <a:ext cx="2020824" cy="584775"/>
          </a:xfrm>
          <a:prstGeom prst="rect">
            <a:avLst/>
          </a:prstGeom>
          <a:noFill/>
        </p:spPr>
        <p:txBody>
          <a:bodyPr wrap="square" lIns="45720" rIns="45720" anchor="t">
            <a:spAutoFit/>
          </a:bodyPr>
          <a:lstStyle/>
          <a:p>
            <a:pPr algn="l">
              <a:defRPr sz="2500" b="1">
                <a:solidFill>
                  <a:srgbClr val="E0B154"/>
                </a:solidFill>
                <a:latin typeface="Aptos"/>
              </a:defRPr>
            </a:pPr>
            <a:r>
              <a:rPr sz="3200"/>
              <a:t>0.923</a:t>
            </a:r>
          </a:p>
        </p:txBody>
      </p:sp>
      <p:sp>
        <p:nvSpPr>
          <p:cNvPr id="14" name="TextBox 13"/>
          <p:cNvSpPr txBox="1"/>
          <p:nvPr/>
        </p:nvSpPr>
        <p:spPr>
          <a:xfrm>
            <a:off x="6190488" y="2990088"/>
            <a:ext cx="2020824" cy="307777"/>
          </a:xfrm>
          <a:prstGeom prst="rect">
            <a:avLst/>
          </a:prstGeom>
          <a:noFill/>
        </p:spPr>
        <p:txBody>
          <a:bodyPr wrap="square" lIns="45720" rIns="45720" anchor="t">
            <a:spAutoFit/>
          </a:bodyPr>
          <a:lstStyle/>
          <a:p>
            <a:pPr algn="l">
              <a:defRPr sz="1100" b="1">
                <a:solidFill>
                  <a:srgbClr val="2D353D"/>
                </a:solidFill>
                <a:latin typeface="Aptos"/>
              </a:defRPr>
            </a:pPr>
            <a:r>
              <a:rPr sz="1400" dirty="0"/>
              <a:t>Highest ROC-AUC</a:t>
            </a:r>
          </a:p>
        </p:txBody>
      </p:sp>
      <p:sp>
        <p:nvSpPr>
          <p:cNvPr id="15" name="Rounded Rectangle 14"/>
          <p:cNvSpPr/>
          <p:nvPr/>
        </p:nvSpPr>
        <p:spPr>
          <a:xfrm>
            <a:off x="8641080" y="2240280"/>
            <a:ext cx="242316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42248" y="2423160"/>
            <a:ext cx="2020824" cy="584775"/>
          </a:xfrm>
          <a:prstGeom prst="rect">
            <a:avLst/>
          </a:prstGeom>
          <a:noFill/>
        </p:spPr>
        <p:txBody>
          <a:bodyPr wrap="square" lIns="45720" rIns="45720" anchor="t">
            <a:spAutoFit/>
          </a:bodyPr>
          <a:lstStyle/>
          <a:p>
            <a:pPr algn="l">
              <a:defRPr sz="2500" b="1">
                <a:solidFill>
                  <a:srgbClr val="1E8486"/>
                </a:solidFill>
                <a:latin typeface="Aptos"/>
              </a:defRPr>
            </a:pPr>
            <a:r>
              <a:rPr sz="3200"/>
              <a:t>68.3%</a:t>
            </a:r>
          </a:p>
        </p:txBody>
      </p:sp>
      <p:sp>
        <p:nvSpPr>
          <p:cNvPr id="17" name="TextBox 16"/>
          <p:cNvSpPr txBox="1"/>
          <p:nvPr/>
        </p:nvSpPr>
        <p:spPr>
          <a:xfrm>
            <a:off x="8842248" y="2990088"/>
            <a:ext cx="2020824" cy="307777"/>
          </a:xfrm>
          <a:prstGeom prst="rect">
            <a:avLst/>
          </a:prstGeom>
          <a:noFill/>
        </p:spPr>
        <p:txBody>
          <a:bodyPr wrap="square" lIns="45720" rIns="45720" anchor="t">
            <a:spAutoFit/>
          </a:bodyPr>
          <a:lstStyle/>
          <a:p>
            <a:pPr algn="l">
              <a:defRPr sz="1100" b="1">
                <a:solidFill>
                  <a:srgbClr val="2D353D"/>
                </a:solidFill>
                <a:latin typeface="Aptos"/>
              </a:defRPr>
            </a:pPr>
            <a:r>
              <a:rPr sz="1400"/>
              <a:t>Best purchase recall</a:t>
            </a:r>
          </a:p>
        </p:txBody>
      </p:sp>
      <p:sp>
        <p:nvSpPr>
          <p:cNvPr id="18" name="TextBox 17"/>
          <p:cNvSpPr txBox="1"/>
          <p:nvPr/>
        </p:nvSpPr>
        <p:spPr>
          <a:xfrm>
            <a:off x="685800" y="4389120"/>
            <a:ext cx="1828800" cy="365760"/>
          </a:xfrm>
          <a:prstGeom prst="rect">
            <a:avLst/>
          </a:prstGeom>
          <a:noFill/>
        </p:spPr>
        <p:txBody>
          <a:bodyPr wrap="square" lIns="45720" rIns="45720" anchor="t">
            <a:spAutoFit/>
          </a:bodyPr>
          <a:lstStyle/>
          <a:p>
            <a:pPr algn="l">
              <a:defRPr sz="1200" b="1">
                <a:solidFill>
                  <a:srgbClr val="1E8486"/>
                </a:solidFill>
                <a:latin typeface="Aptos"/>
              </a:defRPr>
            </a:pPr>
            <a:r>
              <a:rPr dirty="0"/>
              <a:t>Bottom line</a:t>
            </a:r>
          </a:p>
        </p:txBody>
      </p:sp>
      <p:sp>
        <p:nvSpPr>
          <p:cNvPr id="19" name="TextBox 18"/>
          <p:cNvSpPr txBox="1"/>
          <p:nvPr/>
        </p:nvSpPr>
        <p:spPr>
          <a:xfrm>
            <a:off x="685800" y="4736592"/>
            <a:ext cx="10607040" cy="914400"/>
          </a:xfrm>
          <a:prstGeom prst="rect">
            <a:avLst/>
          </a:prstGeom>
          <a:noFill/>
        </p:spPr>
        <p:txBody>
          <a:bodyPr wrap="square" lIns="45720" rIns="45720" anchor="t">
            <a:spAutoFit/>
          </a:bodyPr>
          <a:lstStyle/>
          <a:p>
            <a:pPr algn="l">
              <a:defRPr sz="1700" b="0">
                <a:solidFill>
                  <a:srgbClr val="2D353D"/>
                </a:solidFill>
                <a:latin typeface="Aptos"/>
              </a:defRPr>
            </a:pPr>
            <a:r>
              <a:rPr dirty="0"/>
              <a:t>The Tuned Random Forest provided the strongest overall balance between identifying purchasing sessions and maintaining predictive performance. The clearest predictive signals came from how visitors engaged with the website rather than broad visitor characteristics alone.</a:t>
            </a:r>
          </a:p>
        </p:txBody>
      </p:sp>
      <p:sp>
        <p:nvSpPr>
          <p:cNvPr id="20" name="TextBox 19"/>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2338"/>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69C9C4"/>
                </a:solidFill>
                <a:latin typeface="Aptos"/>
              </a:defRPr>
            </a:pPr>
            <a:r>
              <a:rPr sz="1200" dirty="0"/>
              <a:t>THE BUSINESS PROBLEM</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FFFFFF"/>
                </a:solidFill>
                <a:latin typeface="Aptos"/>
              </a:defRPr>
            </a:pPr>
            <a:r>
              <a:t>Most website visits do not end in a purchase</a:t>
            </a:r>
          </a:p>
        </p:txBody>
      </p:sp>
      <p:sp>
        <p:nvSpPr>
          <p:cNvPr id="4" name="Rectangle 3"/>
          <p:cNvSpPr/>
          <p:nvPr/>
        </p:nvSpPr>
        <p:spPr>
          <a:xfrm>
            <a:off x="640080" y="1847088"/>
            <a:ext cx="1005840" cy="45720"/>
          </a:xfrm>
          <a:prstGeom prst="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470960"/>
            <a:ext cx="3246120" cy="20116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6" y="2815753"/>
            <a:ext cx="2843784" cy="584775"/>
          </a:xfrm>
          <a:prstGeom prst="rect">
            <a:avLst/>
          </a:prstGeom>
          <a:noFill/>
        </p:spPr>
        <p:txBody>
          <a:bodyPr wrap="square" lIns="45720" rIns="45720" anchor="t">
            <a:spAutoFit/>
          </a:bodyPr>
          <a:lstStyle/>
          <a:p>
            <a:pPr algn="l">
              <a:defRPr sz="2500" b="1">
                <a:solidFill>
                  <a:srgbClr val="EE765C"/>
                </a:solidFill>
                <a:latin typeface="Aptos"/>
              </a:defRPr>
            </a:pPr>
            <a:r>
              <a:rPr sz="3200" dirty="0"/>
              <a:t>84.5%</a:t>
            </a:r>
          </a:p>
        </p:txBody>
      </p:sp>
      <p:sp>
        <p:nvSpPr>
          <p:cNvPr id="7" name="TextBox 6"/>
          <p:cNvSpPr txBox="1"/>
          <p:nvPr/>
        </p:nvSpPr>
        <p:spPr>
          <a:xfrm>
            <a:off x="886968" y="3429000"/>
            <a:ext cx="2843784" cy="523220"/>
          </a:xfrm>
          <a:prstGeom prst="rect">
            <a:avLst/>
          </a:prstGeom>
          <a:noFill/>
        </p:spPr>
        <p:txBody>
          <a:bodyPr wrap="square" lIns="45720" rIns="45720" anchor="t">
            <a:spAutoFit/>
          </a:bodyPr>
          <a:lstStyle/>
          <a:p>
            <a:pPr algn="l">
              <a:defRPr sz="1100" b="1">
                <a:solidFill>
                  <a:srgbClr val="2D353D"/>
                </a:solidFill>
                <a:latin typeface="Aptos"/>
              </a:defRPr>
            </a:pPr>
            <a:r>
              <a:rPr sz="1400" dirty="0"/>
              <a:t>Sessions ended without a purchase</a:t>
            </a:r>
          </a:p>
        </p:txBody>
      </p:sp>
      <p:sp>
        <p:nvSpPr>
          <p:cNvPr id="8" name="Rounded Rectangle 7"/>
          <p:cNvSpPr/>
          <p:nvPr/>
        </p:nvSpPr>
        <p:spPr>
          <a:xfrm>
            <a:off x="4434840" y="2470960"/>
            <a:ext cx="3246120" cy="20116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2776465"/>
            <a:ext cx="2843784" cy="584775"/>
          </a:xfrm>
          <a:prstGeom prst="rect">
            <a:avLst/>
          </a:prstGeom>
          <a:noFill/>
        </p:spPr>
        <p:txBody>
          <a:bodyPr wrap="square" lIns="45720" rIns="45720" anchor="t">
            <a:spAutoFit/>
          </a:bodyPr>
          <a:lstStyle/>
          <a:p>
            <a:pPr algn="l">
              <a:defRPr sz="2500" b="1">
                <a:solidFill>
                  <a:srgbClr val="1E8486"/>
                </a:solidFill>
                <a:latin typeface="Aptos"/>
              </a:defRPr>
            </a:pPr>
            <a:r>
              <a:rPr sz="3200" dirty="0"/>
              <a:t>15.5%</a:t>
            </a:r>
          </a:p>
        </p:txBody>
      </p:sp>
      <p:sp>
        <p:nvSpPr>
          <p:cNvPr id="10" name="TextBox 9"/>
          <p:cNvSpPr txBox="1"/>
          <p:nvPr/>
        </p:nvSpPr>
        <p:spPr>
          <a:xfrm>
            <a:off x="4567428" y="3424305"/>
            <a:ext cx="2843784" cy="307777"/>
          </a:xfrm>
          <a:prstGeom prst="rect">
            <a:avLst/>
          </a:prstGeom>
          <a:noFill/>
        </p:spPr>
        <p:txBody>
          <a:bodyPr wrap="square" lIns="45720" rIns="45720" anchor="t">
            <a:spAutoFit/>
          </a:bodyPr>
          <a:lstStyle/>
          <a:p>
            <a:pPr algn="l">
              <a:defRPr sz="1100" b="1">
                <a:solidFill>
                  <a:srgbClr val="2D353D"/>
                </a:solidFill>
                <a:latin typeface="Aptos"/>
              </a:defRPr>
            </a:pPr>
            <a:r>
              <a:rPr sz="1400" dirty="0"/>
              <a:t>Sessions resulted in a purchase</a:t>
            </a:r>
          </a:p>
        </p:txBody>
      </p:sp>
      <p:sp>
        <p:nvSpPr>
          <p:cNvPr id="11" name="Rounded Rectangle 10"/>
          <p:cNvSpPr/>
          <p:nvPr/>
        </p:nvSpPr>
        <p:spPr>
          <a:xfrm>
            <a:off x="8183879" y="2470960"/>
            <a:ext cx="3246120" cy="20116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85047" y="2747331"/>
            <a:ext cx="2843784" cy="584775"/>
          </a:xfrm>
          <a:prstGeom prst="rect">
            <a:avLst/>
          </a:prstGeom>
          <a:noFill/>
        </p:spPr>
        <p:txBody>
          <a:bodyPr wrap="square" lIns="45720" rIns="45720" anchor="t">
            <a:spAutoFit/>
          </a:bodyPr>
          <a:lstStyle/>
          <a:p>
            <a:pPr algn="l">
              <a:defRPr sz="2500" b="1">
                <a:solidFill>
                  <a:srgbClr val="E0B154"/>
                </a:solidFill>
                <a:latin typeface="Aptos"/>
              </a:defRPr>
            </a:pPr>
            <a:r>
              <a:rPr sz="3200"/>
              <a:t>1 goal</a:t>
            </a:r>
          </a:p>
        </p:txBody>
      </p:sp>
      <p:sp>
        <p:nvSpPr>
          <p:cNvPr id="13" name="TextBox 12"/>
          <p:cNvSpPr txBox="1"/>
          <p:nvPr/>
        </p:nvSpPr>
        <p:spPr>
          <a:xfrm>
            <a:off x="8385047" y="3423920"/>
            <a:ext cx="2843784" cy="307777"/>
          </a:xfrm>
          <a:prstGeom prst="rect">
            <a:avLst/>
          </a:prstGeom>
          <a:noFill/>
        </p:spPr>
        <p:txBody>
          <a:bodyPr wrap="square" lIns="45720" rIns="45720" anchor="t">
            <a:spAutoFit/>
          </a:bodyPr>
          <a:lstStyle/>
          <a:p>
            <a:pPr algn="l">
              <a:defRPr sz="1100" b="1">
                <a:solidFill>
                  <a:srgbClr val="2D353D"/>
                </a:solidFill>
                <a:latin typeface="Aptos"/>
              </a:defRPr>
            </a:pPr>
            <a:r>
              <a:rPr sz="1400" dirty="0"/>
              <a:t>Identify signals of purchase intent</a:t>
            </a:r>
          </a:p>
        </p:txBody>
      </p:sp>
      <p:sp>
        <p:nvSpPr>
          <p:cNvPr id="14" name="TextBox 13"/>
          <p:cNvSpPr txBox="1"/>
          <p:nvPr/>
        </p:nvSpPr>
        <p:spPr>
          <a:xfrm>
            <a:off x="777240" y="4892040"/>
            <a:ext cx="10607040" cy="822960"/>
          </a:xfrm>
          <a:prstGeom prst="rect">
            <a:avLst/>
          </a:prstGeom>
          <a:noFill/>
        </p:spPr>
        <p:txBody>
          <a:bodyPr wrap="square" lIns="45720" rIns="45720" anchor="t">
            <a:spAutoFit/>
          </a:bodyPr>
          <a:lstStyle/>
          <a:p>
            <a:pPr algn="ctr">
              <a:defRPr sz="2000" b="1">
                <a:solidFill>
                  <a:srgbClr val="FFFFFF"/>
                </a:solidFill>
                <a:latin typeface="Aptos"/>
              </a:defRPr>
            </a:pPr>
            <a:r>
              <a:rPr dirty="0"/>
              <a:t>Can information collected during a shopping session help distinguish visitors who are more likely to purchase from those who are not?</a:t>
            </a:r>
          </a:p>
        </p:txBody>
      </p:sp>
      <p:sp>
        <p:nvSpPr>
          <p:cNvPr id="15" name="TextBox 1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3</a:t>
            </a:r>
          </a:p>
        </p:txBody>
      </p:sp>
      <p:sp>
        <p:nvSpPr>
          <p:cNvPr id="17" name="TextBox 16">
            <a:extLst>
              <a:ext uri="{FF2B5EF4-FFF2-40B4-BE49-F238E27FC236}">
                <a16:creationId xmlns:a16="http://schemas.microsoft.com/office/drawing/2014/main" id="{8C892455-673A-FC56-02B5-3DDDBCE047AF}"/>
              </a:ext>
            </a:extLst>
          </p:cNvPr>
          <p:cNvSpPr txBox="1"/>
          <p:nvPr/>
        </p:nvSpPr>
        <p:spPr>
          <a:xfrm>
            <a:off x="594361" y="1179576"/>
            <a:ext cx="10789919" cy="584775"/>
          </a:xfrm>
          <a:prstGeom prst="rect">
            <a:avLst/>
          </a:prstGeom>
          <a:noFill/>
        </p:spPr>
        <p:txBody>
          <a:bodyPr wrap="square">
            <a:spAutoFit/>
          </a:bodyPr>
          <a:lstStyle/>
          <a:p>
            <a:r>
              <a:rPr lang="en-US" sz="1600" b="0" i="0" dirty="0">
                <a:solidFill>
                  <a:schemeClr val="bg1"/>
                </a:solidFill>
                <a:effectLst/>
                <a:latin typeface="Inter"/>
              </a:rPr>
              <a:t>Customers browse products, compare options, and often leave without completing a transaction. The business opportunity is to recognize meaningful signals of purchase intent while the session is still useful for decision-making.</a:t>
            </a:r>
            <a:endParaRPr lang="en-US" sz="1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a:t>PROJECT FRAMING</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What would make this useful to a business?</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240280"/>
            <a:ext cx="3063240" cy="2560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514600"/>
            <a:ext cx="2560320" cy="338554"/>
          </a:xfrm>
          <a:prstGeom prst="rect">
            <a:avLst/>
          </a:prstGeom>
          <a:noFill/>
        </p:spPr>
        <p:txBody>
          <a:bodyPr wrap="square" lIns="45720" rIns="45720" anchor="t">
            <a:spAutoFit/>
          </a:bodyPr>
          <a:lstStyle/>
          <a:p>
            <a:pPr algn="l">
              <a:defRPr sz="1600" b="1">
                <a:solidFill>
                  <a:srgbClr val="1E8486"/>
                </a:solidFill>
                <a:latin typeface="Aptos"/>
              </a:defRPr>
            </a:pPr>
            <a:r>
              <a:rPr dirty="0"/>
              <a:t>Stakeholders</a:t>
            </a:r>
          </a:p>
        </p:txBody>
      </p:sp>
      <p:sp>
        <p:nvSpPr>
          <p:cNvPr id="7" name="TextBox 6"/>
          <p:cNvSpPr txBox="1"/>
          <p:nvPr/>
        </p:nvSpPr>
        <p:spPr>
          <a:xfrm>
            <a:off x="914400" y="3154680"/>
            <a:ext cx="2606040" cy="1234440"/>
          </a:xfrm>
          <a:prstGeom prst="rect">
            <a:avLst/>
          </a:prstGeom>
          <a:noFill/>
        </p:spPr>
        <p:txBody>
          <a:bodyPr wrap="square" lIns="45720" rIns="45720" anchor="t">
            <a:spAutoFit/>
          </a:bodyPr>
          <a:lstStyle/>
          <a:p>
            <a:pPr algn="l">
              <a:defRPr sz="1400" b="0">
                <a:solidFill>
                  <a:srgbClr val="2D353D"/>
                </a:solidFill>
                <a:latin typeface="Aptos"/>
              </a:defRPr>
            </a:pPr>
            <a:r>
              <a:rPr dirty="0"/>
              <a:t>E-commerce leaders</a:t>
            </a:r>
            <a:br>
              <a:rPr dirty="0"/>
            </a:br>
            <a:r>
              <a:rPr dirty="0"/>
              <a:t>Marketing &amp; analytics</a:t>
            </a:r>
            <a:br>
              <a:rPr dirty="0"/>
            </a:br>
            <a:r>
              <a:rPr dirty="0"/>
              <a:t>Product &amp; UX teams</a:t>
            </a:r>
          </a:p>
        </p:txBody>
      </p:sp>
      <p:sp>
        <p:nvSpPr>
          <p:cNvPr id="8" name="Rounded Rectangle 7"/>
          <p:cNvSpPr/>
          <p:nvPr/>
        </p:nvSpPr>
        <p:spPr>
          <a:xfrm>
            <a:off x="4069080" y="2240280"/>
            <a:ext cx="3063240" cy="2560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0" y="2514600"/>
            <a:ext cx="2560320" cy="338554"/>
          </a:xfrm>
          <a:prstGeom prst="rect">
            <a:avLst/>
          </a:prstGeom>
          <a:noFill/>
        </p:spPr>
        <p:txBody>
          <a:bodyPr wrap="square" lIns="45720" rIns="45720" anchor="t">
            <a:spAutoFit/>
          </a:bodyPr>
          <a:lstStyle/>
          <a:p>
            <a:pPr algn="l">
              <a:defRPr sz="1600" b="1">
                <a:solidFill>
                  <a:srgbClr val="EE765C"/>
                </a:solidFill>
                <a:latin typeface="Aptos"/>
              </a:defRPr>
            </a:pPr>
            <a:r>
              <a:rPr dirty="0"/>
              <a:t>Success criteria</a:t>
            </a:r>
          </a:p>
        </p:txBody>
      </p:sp>
      <p:sp>
        <p:nvSpPr>
          <p:cNvPr id="10" name="TextBox 9"/>
          <p:cNvSpPr txBox="1"/>
          <p:nvPr/>
        </p:nvSpPr>
        <p:spPr>
          <a:xfrm>
            <a:off x="4297680" y="3154680"/>
            <a:ext cx="2606040" cy="1234440"/>
          </a:xfrm>
          <a:prstGeom prst="rect">
            <a:avLst/>
          </a:prstGeom>
          <a:noFill/>
        </p:spPr>
        <p:txBody>
          <a:bodyPr wrap="square" lIns="45720" rIns="45720" anchor="t">
            <a:spAutoFit/>
          </a:bodyPr>
          <a:lstStyle/>
          <a:p>
            <a:pPr algn="l">
              <a:defRPr sz="1400" b="0">
                <a:solidFill>
                  <a:srgbClr val="2D353D"/>
                </a:solidFill>
                <a:latin typeface="Aptos"/>
              </a:defRPr>
            </a:pPr>
            <a:r>
              <a:t>Identify more purchasing sessions while maintaining reasonable precision</a:t>
            </a:r>
          </a:p>
        </p:txBody>
      </p:sp>
      <p:sp>
        <p:nvSpPr>
          <p:cNvPr id="11" name="Rounded Rectangle 10"/>
          <p:cNvSpPr/>
          <p:nvPr/>
        </p:nvSpPr>
        <p:spPr>
          <a:xfrm>
            <a:off x="7452360" y="2240280"/>
            <a:ext cx="3063240" cy="2560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0" y="2514600"/>
            <a:ext cx="2560320" cy="338554"/>
          </a:xfrm>
          <a:prstGeom prst="rect">
            <a:avLst/>
          </a:prstGeom>
          <a:noFill/>
        </p:spPr>
        <p:txBody>
          <a:bodyPr wrap="square" lIns="45720" rIns="45720" anchor="t">
            <a:spAutoFit/>
          </a:bodyPr>
          <a:lstStyle/>
          <a:p>
            <a:pPr algn="l">
              <a:defRPr sz="1600" b="1">
                <a:solidFill>
                  <a:srgbClr val="E0B154"/>
                </a:solidFill>
                <a:latin typeface="Aptos"/>
              </a:defRPr>
            </a:pPr>
            <a:r>
              <a:rPr dirty="0"/>
              <a:t>Key constraint</a:t>
            </a:r>
          </a:p>
        </p:txBody>
      </p:sp>
      <p:sp>
        <p:nvSpPr>
          <p:cNvPr id="13" name="TextBox 12"/>
          <p:cNvSpPr txBox="1"/>
          <p:nvPr/>
        </p:nvSpPr>
        <p:spPr>
          <a:xfrm>
            <a:off x="7680960" y="3154680"/>
            <a:ext cx="2606040" cy="1234440"/>
          </a:xfrm>
          <a:prstGeom prst="rect">
            <a:avLst/>
          </a:prstGeom>
          <a:noFill/>
        </p:spPr>
        <p:txBody>
          <a:bodyPr wrap="square" lIns="45720" rIns="45720" anchor="t">
            <a:spAutoFit/>
          </a:bodyPr>
          <a:lstStyle/>
          <a:p>
            <a:pPr algn="l">
              <a:defRPr sz="1400" b="0">
                <a:solidFill>
                  <a:srgbClr val="2D353D"/>
                </a:solidFill>
                <a:latin typeface="Aptos"/>
              </a:defRPr>
            </a:pPr>
            <a:r>
              <a:t>Predictions are only useful if the information is available early enough to support action</a:t>
            </a:r>
          </a:p>
        </p:txBody>
      </p:sp>
      <p:sp>
        <p:nvSpPr>
          <p:cNvPr id="14" name="TextBox 13"/>
          <p:cNvSpPr txBox="1"/>
          <p:nvPr/>
        </p:nvSpPr>
        <p:spPr>
          <a:xfrm>
            <a:off x="685800" y="5394960"/>
            <a:ext cx="10515600" cy="338554"/>
          </a:xfrm>
          <a:prstGeom prst="rect">
            <a:avLst/>
          </a:prstGeom>
          <a:noFill/>
        </p:spPr>
        <p:txBody>
          <a:bodyPr wrap="square" lIns="45720" rIns="45720" anchor="t">
            <a:spAutoFit/>
          </a:bodyPr>
          <a:lstStyle/>
          <a:p>
            <a:pPr algn="l">
              <a:defRPr sz="1600" b="0">
                <a:solidFill>
                  <a:srgbClr val="6A7580"/>
                </a:solidFill>
                <a:latin typeface="Aptos"/>
              </a:defRPr>
            </a:pPr>
            <a:r>
              <a:rPr dirty="0"/>
              <a:t>Model selection therefore emphasized recall, F1-score, and ROC-AUC alongside overall accuracy.</a:t>
            </a:r>
          </a:p>
        </p:txBody>
      </p:sp>
      <p:sp>
        <p:nvSpPr>
          <p:cNvPr id="15" name="TextBox 1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4</a:t>
            </a:r>
          </a:p>
        </p:txBody>
      </p:sp>
      <p:sp>
        <p:nvSpPr>
          <p:cNvPr id="17" name="TextBox 16">
            <a:extLst>
              <a:ext uri="{FF2B5EF4-FFF2-40B4-BE49-F238E27FC236}">
                <a16:creationId xmlns:a16="http://schemas.microsoft.com/office/drawing/2014/main" id="{D17F2451-22DD-5756-A4FA-EA7153F0262F}"/>
              </a:ext>
            </a:extLst>
          </p:cNvPr>
          <p:cNvSpPr txBox="1"/>
          <p:nvPr/>
        </p:nvSpPr>
        <p:spPr>
          <a:xfrm>
            <a:off x="640080" y="1347297"/>
            <a:ext cx="6096000" cy="369332"/>
          </a:xfrm>
          <a:prstGeom prst="rect">
            <a:avLst/>
          </a:prstGeom>
          <a:noFill/>
        </p:spPr>
        <p:txBody>
          <a:bodyPr wrap="square">
            <a:spAutoFit/>
          </a:bodyPr>
          <a:lstStyle/>
          <a:p>
            <a:pPr indent="0" algn="l">
              <a:buNone/>
            </a:pPr>
            <a:r>
              <a:rPr lang="en-US" b="1" i="0" dirty="0">
                <a:solidFill>
                  <a:srgbClr val="17212B"/>
                </a:solidFill>
                <a:effectLst/>
                <a:latin typeface="Inter"/>
              </a:rPr>
              <a:t>Turn session-level behavior into a </a:t>
            </a:r>
            <a:r>
              <a:rPr lang="en-US" b="1" i="0" dirty="0">
                <a:solidFill>
                  <a:srgbClr val="1F8A8A"/>
                </a:solidFill>
                <a:effectLst/>
                <a:latin typeface="Inter"/>
              </a:rPr>
              <a:t>predictive decision tool.</a:t>
            </a:r>
            <a:endParaRPr lang="en-US" b="1" i="0" dirty="0">
              <a:solidFill>
                <a:srgbClr val="17212B"/>
              </a:solidFill>
              <a:effectLst/>
              <a:latin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6999"/>
          </a:xfrm>
          <a:prstGeom prst="rect">
            <a:avLst/>
          </a:prstGeom>
          <a:noFill/>
        </p:spPr>
        <p:txBody>
          <a:bodyPr wrap="square" lIns="45720" rIns="45720" anchor="t">
            <a:spAutoFit/>
          </a:bodyPr>
          <a:lstStyle/>
          <a:p>
            <a:pPr algn="l">
              <a:defRPr sz="1000" b="1">
                <a:solidFill>
                  <a:srgbClr val="1E8486"/>
                </a:solidFill>
                <a:latin typeface="Aptos"/>
              </a:defRPr>
            </a:pPr>
            <a:r>
              <a:rPr sz="1200" dirty="0"/>
              <a:t>DATA</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A session-level view of online shopping behavior</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194560"/>
            <a:ext cx="228600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377440"/>
            <a:ext cx="1883664" cy="523220"/>
          </a:xfrm>
          <a:prstGeom prst="rect">
            <a:avLst/>
          </a:prstGeom>
          <a:noFill/>
        </p:spPr>
        <p:txBody>
          <a:bodyPr wrap="square" lIns="45720" rIns="45720" anchor="t">
            <a:spAutoFit/>
          </a:bodyPr>
          <a:lstStyle/>
          <a:p>
            <a:pPr algn="l">
              <a:defRPr sz="2500" b="1">
                <a:solidFill>
                  <a:srgbClr val="1E8486"/>
                </a:solidFill>
                <a:latin typeface="Aptos"/>
              </a:defRPr>
            </a:pPr>
            <a:r>
              <a:rPr sz="2800" dirty="0"/>
              <a:t>18</a:t>
            </a:r>
          </a:p>
        </p:txBody>
      </p:sp>
      <p:sp>
        <p:nvSpPr>
          <p:cNvPr id="7" name="TextBox 6"/>
          <p:cNvSpPr txBox="1"/>
          <p:nvPr/>
        </p:nvSpPr>
        <p:spPr>
          <a:xfrm>
            <a:off x="886968" y="2944368"/>
            <a:ext cx="1883664" cy="276999"/>
          </a:xfrm>
          <a:prstGeom prst="rect">
            <a:avLst/>
          </a:prstGeom>
          <a:noFill/>
        </p:spPr>
        <p:txBody>
          <a:bodyPr wrap="square" lIns="45720" rIns="45720" anchor="t">
            <a:spAutoFit/>
          </a:bodyPr>
          <a:lstStyle/>
          <a:p>
            <a:pPr algn="l">
              <a:defRPr sz="1100" b="1">
                <a:solidFill>
                  <a:srgbClr val="2D353D"/>
                </a:solidFill>
                <a:latin typeface="Aptos"/>
              </a:defRPr>
            </a:pPr>
            <a:r>
              <a:rPr sz="1200" dirty="0"/>
              <a:t>Total variables</a:t>
            </a:r>
          </a:p>
        </p:txBody>
      </p:sp>
      <p:sp>
        <p:nvSpPr>
          <p:cNvPr id="8" name="Rounded Rectangle 7"/>
          <p:cNvSpPr/>
          <p:nvPr/>
        </p:nvSpPr>
        <p:spPr>
          <a:xfrm>
            <a:off x="3200400" y="2194560"/>
            <a:ext cx="228600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2377440"/>
            <a:ext cx="1883664" cy="523220"/>
          </a:xfrm>
          <a:prstGeom prst="rect">
            <a:avLst/>
          </a:prstGeom>
          <a:noFill/>
        </p:spPr>
        <p:txBody>
          <a:bodyPr wrap="square" lIns="45720" rIns="45720" anchor="t">
            <a:spAutoFit/>
          </a:bodyPr>
          <a:lstStyle/>
          <a:p>
            <a:pPr algn="l">
              <a:defRPr sz="2500" b="1">
                <a:solidFill>
                  <a:srgbClr val="69C9C4"/>
                </a:solidFill>
                <a:latin typeface="Aptos"/>
              </a:defRPr>
            </a:pPr>
            <a:r>
              <a:rPr sz="2800" dirty="0"/>
              <a:t>17</a:t>
            </a:r>
          </a:p>
        </p:txBody>
      </p:sp>
      <p:sp>
        <p:nvSpPr>
          <p:cNvPr id="10" name="TextBox 9"/>
          <p:cNvSpPr txBox="1"/>
          <p:nvPr/>
        </p:nvSpPr>
        <p:spPr>
          <a:xfrm>
            <a:off x="3401568" y="2944368"/>
            <a:ext cx="1883664" cy="276999"/>
          </a:xfrm>
          <a:prstGeom prst="rect">
            <a:avLst/>
          </a:prstGeom>
          <a:noFill/>
        </p:spPr>
        <p:txBody>
          <a:bodyPr wrap="square" lIns="45720" rIns="45720" anchor="t">
            <a:spAutoFit/>
          </a:bodyPr>
          <a:lstStyle/>
          <a:p>
            <a:pPr algn="l">
              <a:defRPr sz="1100" b="1">
                <a:solidFill>
                  <a:srgbClr val="2D353D"/>
                </a:solidFill>
                <a:latin typeface="Aptos"/>
              </a:defRPr>
            </a:pPr>
            <a:r>
              <a:rPr sz="1200" dirty="0"/>
              <a:t>Predictor variables</a:t>
            </a:r>
          </a:p>
        </p:txBody>
      </p:sp>
      <p:sp>
        <p:nvSpPr>
          <p:cNvPr id="11" name="Rounded Rectangle 10"/>
          <p:cNvSpPr/>
          <p:nvPr/>
        </p:nvSpPr>
        <p:spPr>
          <a:xfrm>
            <a:off x="5715000" y="2194560"/>
            <a:ext cx="228600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16168" y="2377440"/>
            <a:ext cx="1883664" cy="523220"/>
          </a:xfrm>
          <a:prstGeom prst="rect">
            <a:avLst/>
          </a:prstGeom>
          <a:noFill/>
        </p:spPr>
        <p:txBody>
          <a:bodyPr wrap="square" lIns="45720" rIns="45720" anchor="t">
            <a:spAutoFit/>
          </a:bodyPr>
          <a:lstStyle/>
          <a:p>
            <a:pPr algn="l">
              <a:defRPr sz="2500" b="1">
                <a:solidFill>
                  <a:srgbClr val="EE765C"/>
                </a:solidFill>
                <a:latin typeface="Aptos"/>
              </a:defRPr>
            </a:pPr>
            <a:r>
              <a:rPr sz="2800"/>
              <a:t>1</a:t>
            </a:r>
          </a:p>
        </p:txBody>
      </p:sp>
      <p:sp>
        <p:nvSpPr>
          <p:cNvPr id="13" name="TextBox 12"/>
          <p:cNvSpPr txBox="1"/>
          <p:nvPr/>
        </p:nvSpPr>
        <p:spPr>
          <a:xfrm>
            <a:off x="5916168" y="2944368"/>
            <a:ext cx="1883664" cy="646331"/>
          </a:xfrm>
          <a:prstGeom prst="rect">
            <a:avLst/>
          </a:prstGeom>
          <a:noFill/>
        </p:spPr>
        <p:txBody>
          <a:bodyPr wrap="square" lIns="45720" rIns="45720" anchor="t">
            <a:spAutoFit/>
          </a:bodyPr>
          <a:lstStyle/>
          <a:p>
            <a:pPr algn="l">
              <a:defRPr sz="1100" b="1">
                <a:solidFill>
                  <a:srgbClr val="2D353D"/>
                </a:solidFill>
                <a:latin typeface="Aptos"/>
              </a:defRPr>
            </a:pPr>
            <a:r>
              <a:rPr sz="1200" dirty="0"/>
              <a:t>Binary outcome: Revenue</a:t>
            </a:r>
            <a:r>
              <a:rPr lang="en-US" sz="1200" dirty="0"/>
              <a:t> </a:t>
            </a:r>
            <a:r>
              <a:rPr lang="en-US" sz="1200" dirty="0">
                <a:sym typeface="Wingdings" panose="05000000000000000000" pitchFamily="2" charset="2"/>
              </a:rPr>
              <a:t> Purchase vs. No Purchase</a:t>
            </a:r>
            <a:endParaRPr sz="1200" dirty="0"/>
          </a:p>
        </p:txBody>
      </p:sp>
      <p:sp>
        <p:nvSpPr>
          <p:cNvPr id="14" name="Rounded Rectangle 13"/>
          <p:cNvSpPr/>
          <p:nvPr/>
        </p:nvSpPr>
        <p:spPr>
          <a:xfrm>
            <a:off x="8229600" y="2194560"/>
            <a:ext cx="228600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8" y="2377440"/>
            <a:ext cx="1883664" cy="523220"/>
          </a:xfrm>
          <a:prstGeom prst="rect">
            <a:avLst/>
          </a:prstGeom>
          <a:noFill/>
        </p:spPr>
        <p:txBody>
          <a:bodyPr wrap="square" lIns="45720" rIns="45720" anchor="t">
            <a:spAutoFit/>
          </a:bodyPr>
          <a:lstStyle/>
          <a:p>
            <a:pPr algn="l">
              <a:defRPr sz="2500" b="1">
                <a:solidFill>
                  <a:srgbClr val="E0B154"/>
                </a:solidFill>
                <a:latin typeface="Aptos"/>
              </a:defRPr>
            </a:pPr>
            <a:r>
              <a:rPr sz="2800"/>
              <a:t>1 year</a:t>
            </a:r>
          </a:p>
        </p:txBody>
      </p:sp>
      <p:sp>
        <p:nvSpPr>
          <p:cNvPr id="16" name="TextBox 15"/>
          <p:cNvSpPr txBox="1"/>
          <p:nvPr/>
        </p:nvSpPr>
        <p:spPr>
          <a:xfrm>
            <a:off x="8430768" y="2944368"/>
            <a:ext cx="1883664" cy="461665"/>
          </a:xfrm>
          <a:prstGeom prst="rect">
            <a:avLst/>
          </a:prstGeom>
          <a:noFill/>
        </p:spPr>
        <p:txBody>
          <a:bodyPr wrap="square" lIns="45720" rIns="45720" anchor="t">
            <a:spAutoFit/>
          </a:bodyPr>
          <a:lstStyle/>
          <a:p>
            <a:pPr algn="l">
              <a:defRPr sz="1100" b="1">
                <a:solidFill>
                  <a:srgbClr val="2D353D"/>
                </a:solidFill>
                <a:latin typeface="Aptos"/>
              </a:defRPr>
            </a:pPr>
            <a:r>
              <a:rPr lang="en-US" sz="1200" dirty="0"/>
              <a:t>Individual s</a:t>
            </a:r>
            <a:r>
              <a:rPr sz="1200" dirty="0"/>
              <a:t>hopping sessions represented</a:t>
            </a:r>
          </a:p>
        </p:txBody>
      </p:sp>
      <p:sp>
        <p:nvSpPr>
          <p:cNvPr id="17" name="TextBox 16"/>
          <p:cNvSpPr txBox="1"/>
          <p:nvPr/>
        </p:nvSpPr>
        <p:spPr>
          <a:xfrm>
            <a:off x="685800" y="4002904"/>
            <a:ext cx="4937760" cy="365760"/>
          </a:xfrm>
          <a:prstGeom prst="rect">
            <a:avLst/>
          </a:prstGeom>
          <a:noFill/>
        </p:spPr>
        <p:txBody>
          <a:bodyPr wrap="square" lIns="45720" rIns="45720" anchor="t">
            <a:spAutoFit/>
          </a:bodyPr>
          <a:lstStyle/>
          <a:p>
            <a:pPr algn="l">
              <a:defRPr sz="1600" b="1">
                <a:solidFill>
                  <a:srgbClr val="2D353D"/>
                </a:solidFill>
                <a:latin typeface="Aptos"/>
              </a:defRPr>
            </a:pPr>
            <a:r>
              <a:rPr dirty="0"/>
              <a:t>The predictors were grouped into four practical categories:</a:t>
            </a:r>
          </a:p>
        </p:txBody>
      </p:sp>
      <p:sp>
        <p:nvSpPr>
          <p:cNvPr id="18" name="Rounded Rectangle 17"/>
          <p:cNvSpPr/>
          <p:nvPr/>
        </p:nvSpPr>
        <p:spPr>
          <a:xfrm>
            <a:off x="685800" y="4572000"/>
            <a:ext cx="4892040" cy="475488"/>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681728"/>
            <a:ext cx="4389120" cy="228600"/>
          </a:xfrm>
          <a:prstGeom prst="rect">
            <a:avLst/>
          </a:prstGeom>
          <a:noFill/>
        </p:spPr>
        <p:txBody>
          <a:bodyPr wrap="square" lIns="45720" rIns="45720" anchor="t">
            <a:spAutoFit/>
          </a:bodyPr>
          <a:lstStyle/>
          <a:p>
            <a:pPr algn="l">
              <a:defRPr sz="1200" b="1">
                <a:solidFill>
                  <a:srgbClr val="1E8486"/>
                </a:solidFill>
                <a:latin typeface="Aptos"/>
              </a:defRPr>
            </a:pPr>
            <a:r>
              <a:t>Browsing behavior</a:t>
            </a:r>
          </a:p>
        </p:txBody>
      </p:sp>
      <p:sp>
        <p:nvSpPr>
          <p:cNvPr id="20" name="Rounded Rectangle 19"/>
          <p:cNvSpPr/>
          <p:nvPr/>
        </p:nvSpPr>
        <p:spPr>
          <a:xfrm>
            <a:off x="5989320" y="4572000"/>
            <a:ext cx="4892040" cy="475488"/>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72200" y="4681728"/>
            <a:ext cx="4389120" cy="228600"/>
          </a:xfrm>
          <a:prstGeom prst="rect">
            <a:avLst/>
          </a:prstGeom>
          <a:noFill/>
        </p:spPr>
        <p:txBody>
          <a:bodyPr wrap="square" lIns="45720" rIns="45720" anchor="t">
            <a:spAutoFit/>
          </a:bodyPr>
          <a:lstStyle/>
          <a:p>
            <a:pPr algn="l">
              <a:defRPr sz="1200" b="1">
                <a:solidFill>
                  <a:srgbClr val="EE765C"/>
                </a:solidFill>
                <a:latin typeface="Aptos"/>
              </a:defRPr>
            </a:pPr>
            <a:r>
              <a:t>Engagement metrics</a:t>
            </a:r>
          </a:p>
        </p:txBody>
      </p:sp>
      <p:sp>
        <p:nvSpPr>
          <p:cNvPr id="22" name="Rounded Rectangle 21"/>
          <p:cNvSpPr/>
          <p:nvPr/>
        </p:nvSpPr>
        <p:spPr>
          <a:xfrm>
            <a:off x="685800" y="5230368"/>
            <a:ext cx="4892040" cy="475488"/>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5340096"/>
            <a:ext cx="4389120" cy="228600"/>
          </a:xfrm>
          <a:prstGeom prst="rect">
            <a:avLst/>
          </a:prstGeom>
          <a:noFill/>
        </p:spPr>
        <p:txBody>
          <a:bodyPr wrap="square" lIns="45720" rIns="45720" anchor="t">
            <a:spAutoFit/>
          </a:bodyPr>
          <a:lstStyle/>
          <a:p>
            <a:pPr algn="l">
              <a:defRPr sz="1200" b="1">
                <a:solidFill>
                  <a:srgbClr val="E0B154"/>
                </a:solidFill>
                <a:latin typeface="Aptos"/>
              </a:defRPr>
            </a:pPr>
            <a:r>
              <a:t>Timing &amp; seasonality</a:t>
            </a:r>
          </a:p>
        </p:txBody>
      </p:sp>
      <p:sp>
        <p:nvSpPr>
          <p:cNvPr id="24" name="Rounded Rectangle 23"/>
          <p:cNvSpPr/>
          <p:nvPr/>
        </p:nvSpPr>
        <p:spPr>
          <a:xfrm>
            <a:off x="5989320" y="5230368"/>
            <a:ext cx="4892040" cy="475488"/>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72200" y="5340096"/>
            <a:ext cx="4389120" cy="228600"/>
          </a:xfrm>
          <a:prstGeom prst="rect">
            <a:avLst/>
          </a:prstGeom>
          <a:noFill/>
        </p:spPr>
        <p:txBody>
          <a:bodyPr wrap="square" lIns="45720" rIns="45720" anchor="t">
            <a:spAutoFit/>
          </a:bodyPr>
          <a:lstStyle/>
          <a:p>
            <a:pPr algn="l">
              <a:defRPr sz="1200" b="1">
                <a:solidFill>
                  <a:srgbClr val="69C9C4"/>
                </a:solidFill>
                <a:latin typeface="Aptos"/>
              </a:defRPr>
            </a:pPr>
            <a:r>
              <a:t>Visitor &amp; technical characteristics</a:t>
            </a:r>
          </a:p>
        </p:txBody>
      </p:sp>
      <p:sp>
        <p:nvSpPr>
          <p:cNvPr id="26" name="TextBox 25"/>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5</a:t>
            </a:r>
          </a:p>
        </p:txBody>
      </p:sp>
      <p:sp>
        <p:nvSpPr>
          <p:cNvPr id="28" name="TextBox 27">
            <a:extLst>
              <a:ext uri="{FF2B5EF4-FFF2-40B4-BE49-F238E27FC236}">
                <a16:creationId xmlns:a16="http://schemas.microsoft.com/office/drawing/2014/main" id="{A0E276DB-36A1-727A-E13A-955808106955}"/>
              </a:ext>
            </a:extLst>
          </p:cNvPr>
          <p:cNvSpPr txBox="1"/>
          <p:nvPr/>
        </p:nvSpPr>
        <p:spPr>
          <a:xfrm>
            <a:off x="640080" y="1294876"/>
            <a:ext cx="6096000" cy="369332"/>
          </a:xfrm>
          <a:prstGeom prst="rect">
            <a:avLst/>
          </a:prstGeom>
          <a:noFill/>
        </p:spPr>
        <p:txBody>
          <a:bodyPr wrap="square">
            <a:spAutoFit/>
          </a:bodyPr>
          <a:lstStyle/>
          <a:p>
            <a:pPr indent="0" algn="l">
              <a:buNone/>
            </a:pPr>
            <a:r>
              <a:rPr lang="en-US" b="1" i="0" dirty="0">
                <a:solidFill>
                  <a:srgbClr val="17212B"/>
                </a:solidFill>
                <a:effectLst/>
                <a:latin typeface="Inter"/>
              </a:rPr>
              <a:t>One row represents </a:t>
            </a:r>
            <a:r>
              <a:rPr lang="en-US" b="1" i="0" dirty="0">
                <a:solidFill>
                  <a:srgbClr val="1F8A8A"/>
                </a:solidFill>
                <a:effectLst/>
                <a:latin typeface="Inter"/>
              </a:rPr>
              <a:t>one online shopping session.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ANALYTICAL WORKFLOW</a:t>
            </a:r>
          </a:p>
        </p:txBody>
      </p:sp>
      <p:sp>
        <p:nvSpPr>
          <p:cNvPr id="3" name="TextBox 2"/>
          <p:cNvSpPr txBox="1"/>
          <p:nvPr/>
        </p:nvSpPr>
        <p:spPr>
          <a:xfrm>
            <a:off x="640080" y="85039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A structured path from raw sessions to business implications</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dirty="0"/>
              <a:t>01</a:t>
            </a:r>
          </a:p>
        </p:txBody>
      </p:sp>
      <p:sp>
        <p:nvSpPr>
          <p:cNvPr id="7" name="TextBox 6"/>
          <p:cNvSpPr txBox="1"/>
          <p:nvPr/>
        </p:nvSpPr>
        <p:spPr>
          <a:xfrm>
            <a:off x="731520"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rPr dirty="0"/>
              <a:t>Inspect &amp; clean</a:t>
            </a:r>
          </a:p>
        </p:txBody>
      </p:sp>
      <p:sp>
        <p:nvSpPr>
          <p:cNvPr id="8" name="TextBox 7"/>
          <p:cNvSpPr txBox="1"/>
          <p:nvPr/>
        </p:nvSpPr>
        <p:spPr>
          <a:xfrm>
            <a:off x="2331720" y="3127248"/>
            <a:ext cx="182880" cy="274320"/>
          </a:xfrm>
          <a:prstGeom prst="rect">
            <a:avLst/>
          </a:prstGeom>
          <a:noFill/>
        </p:spPr>
        <p:txBody>
          <a:bodyPr wrap="square" lIns="45720" rIns="45720" anchor="t">
            <a:spAutoFit/>
          </a:bodyPr>
          <a:lstStyle/>
          <a:p>
            <a:pPr algn="l">
              <a:defRPr sz="2000" b="1">
                <a:solidFill>
                  <a:srgbClr val="EE765C"/>
                </a:solidFill>
                <a:latin typeface="Aptos"/>
              </a:defRPr>
            </a:pPr>
            <a:r>
              <a:t>→</a:t>
            </a:r>
          </a:p>
        </p:txBody>
      </p:sp>
      <p:sp>
        <p:nvSpPr>
          <p:cNvPr id="9" name="Rounded Rectangle 8"/>
          <p:cNvSpPr/>
          <p:nvPr/>
        </p:nvSpPr>
        <p:spPr>
          <a:xfrm>
            <a:off x="2542032"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79191"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dirty="0"/>
              <a:t>02</a:t>
            </a:r>
          </a:p>
        </p:txBody>
      </p:sp>
      <p:sp>
        <p:nvSpPr>
          <p:cNvPr id="11" name="TextBox 10"/>
          <p:cNvSpPr txBox="1"/>
          <p:nvPr/>
        </p:nvSpPr>
        <p:spPr>
          <a:xfrm>
            <a:off x="2679191"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rPr dirty="0"/>
              <a:t>Explore patterns</a:t>
            </a:r>
          </a:p>
        </p:txBody>
      </p:sp>
      <p:sp>
        <p:nvSpPr>
          <p:cNvPr id="12" name="TextBox 11"/>
          <p:cNvSpPr txBox="1"/>
          <p:nvPr/>
        </p:nvSpPr>
        <p:spPr>
          <a:xfrm>
            <a:off x="4279392" y="3127248"/>
            <a:ext cx="182880" cy="274320"/>
          </a:xfrm>
          <a:prstGeom prst="rect">
            <a:avLst/>
          </a:prstGeom>
          <a:noFill/>
        </p:spPr>
        <p:txBody>
          <a:bodyPr wrap="square" lIns="45720" rIns="45720" anchor="t">
            <a:spAutoFit/>
          </a:bodyPr>
          <a:lstStyle/>
          <a:p>
            <a:pPr algn="l">
              <a:defRPr sz="2000" b="1">
                <a:solidFill>
                  <a:srgbClr val="EE765C"/>
                </a:solidFill>
                <a:latin typeface="Aptos"/>
              </a:defRPr>
            </a:pPr>
            <a:r>
              <a:t>→</a:t>
            </a:r>
          </a:p>
        </p:txBody>
      </p:sp>
      <p:sp>
        <p:nvSpPr>
          <p:cNvPr id="13" name="Rounded Rectangle 12"/>
          <p:cNvSpPr/>
          <p:nvPr/>
        </p:nvSpPr>
        <p:spPr>
          <a:xfrm>
            <a:off x="4489704"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26864"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a:t>03</a:t>
            </a:r>
          </a:p>
        </p:txBody>
      </p:sp>
      <p:sp>
        <p:nvSpPr>
          <p:cNvPr id="15" name="TextBox 14"/>
          <p:cNvSpPr txBox="1"/>
          <p:nvPr/>
        </p:nvSpPr>
        <p:spPr>
          <a:xfrm>
            <a:off x="4626864"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t>Preprocess features</a:t>
            </a:r>
          </a:p>
        </p:txBody>
      </p:sp>
      <p:sp>
        <p:nvSpPr>
          <p:cNvPr id="16" name="TextBox 15"/>
          <p:cNvSpPr txBox="1"/>
          <p:nvPr/>
        </p:nvSpPr>
        <p:spPr>
          <a:xfrm>
            <a:off x="6227064" y="3127248"/>
            <a:ext cx="182880" cy="274320"/>
          </a:xfrm>
          <a:prstGeom prst="rect">
            <a:avLst/>
          </a:prstGeom>
          <a:noFill/>
        </p:spPr>
        <p:txBody>
          <a:bodyPr wrap="square" lIns="45720" rIns="45720" anchor="t">
            <a:spAutoFit/>
          </a:bodyPr>
          <a:lstStyle/>
          <a:p>
            <a:pPr algn="l">
              <a:defRPr sz="2000" b="1">
                <a:solidFill>
                  <a:srgbClr val="EE765C"/>
                </a:solidFill>
                <a:latin typeface="Aptos"/>
              </a:defRPr>
            </a:pPr>
            <a:r>
              <a:t>→</a:t>
            </a:r>
          </a:p>
        </p:txBody>
      </p:sp>
      <p:sp>
        <p:nvSpPr>
          <p:cNvPr id="17" name="Rounded Rectangle 16"/>
          <p:cNvSpPr/>
          <p:nvPr/>
        </p:nvSpPr>
        <p:spPr>
          <a:xfrm>
            <a:off x="6437376"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74536"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a:t>04</a:t>
            </a:r>
          </a:p>
        </p:txBody>
      </p:sp>
      <p:sp>
        <p:nvSpPr>
          <p:cNvPr id="19" name="TextBox 18"/>
          <p:cNvSpPr txBox="1"/>
          <p:nvPr/>
        </p:nvSpPr>
        <p:spPr>
          <a:xfrm>
            <a:off x="6574536"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t>Develop models</a:t>
            </a:r>
          </a:p>
        </p:txBody>
      </p:sp>
      <p:sp>
        <p:nvSpPr>
          <p:cNvPr id="20" name="TextBox 19"/>
          <p:cNvSpPr txBox="1"/>
          <p:nvPr/>
        </p:nvSpPr>
        <p:spPr>
          <a:xfrm>
            <a:off x="8174736" y="3127248"/>
            <a:ext cx="182880" cy="274320"/>
          </a:xfrm>
          <a:prstGeom prst="rect">
            <a:avLst/>
          </a:prstGeom>
          <a:noFill/>
        </p:spPr>
        <p:txBody>
          <a:bodyPr wrap="square" lIns="45720" rIns="45720" anchor="t">
            <a:spAutoFit/>
          </a:bodyPr>
          <a:lstStyle/>
          <a:p>
            <a:pPr algn="l">
              <a:defRPr sz="2000" b="1">
                <a:solidFill>
                  <a:srgbClr val="EE765C"/>
                </a:solidFill>
                <a:latin typeface="Aptos"/>
              </a:defRPr>
            </a:pPr>
            <a:r>
              <a:t>→</a:t>
            </a:r>
          </a:p>
        </p:txBody>
      </p:sp>
      <p:sp>
        <p:nvSpPr>
          <p:cNvPr id="21" name="Rounded Rectangle 20"/>
          <p:cNvSpPr/>
          <p:nvPr/>
        </p:nvSpPr>
        <p:spPr>
          <a:xfrm>
            <a:off x="8385048"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22208"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a:t>05</a:t>
            </a:r>
          </a:p>
        </p:txBody>
      </p:sp>
      <p:sp>
        <p:nvSpPr>
          <p:cNvPr id="23" name="TextBox 22"/>
          <p:cNvSpPr txBox="1"/>
          <p:nvPr/>
        </p:nvSpPr>
        <p:spPr>
          <a:xfrm>
            <a:off x="8522208"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t>Compare performance</a:t>
            </a:r>
          </a:p>
        </p:txBody>
      </p:sp>
      <p:sp>
        <p:nvSpPr>
          <p:cNvPr id="24" name="TextBox 23"/>
          <p:cNvSpPr txBox="1"/>
          <p:nvPr/>
        </p:nvSpPr>
        <p:spPr>
          <a:xfrm>
            <a:off x="10122408" y="3127248"/>
            <a:ext cx="182880" cy="274320"/>
          </a:xfrm>
          <a:prstGeom prst="rect">
            <a:avLst/>
          </a:prstGeom>
          <a:noFill/>
        </p:spPr>
        <p:txBody>
          <a:bodyPr wrap="square" lIns="45720" rIns="45720" anchor="t">
            <a:spAutoFit/>
          </a:bodyPr>
          <a:lstStyle/>
          <a:p>
            <a:pPr algn="l">
              <a:defRPr sz="2000" b="1">
                <a:solidFill>
                  <a:srgbClr val="EE765C"/>
                </a:solidFill>
                <a:latin typeface="Aptos"/>
              </a:defRPr>
            </a:pPr>
            <a:r>
              <a:t>→</a:t>
            </a:r>
          </a:p>
        </p:txBody>
      </p:sp>
      <p:sp>
        <p:nvSpPr>
          <p:cNvPr id="25" name="Rounded Rectangle 24"/>
          <p:cNvSpPr/>
          <p:nvPr/>
        </p:nvSpPr>
        <p:spPr>
          <a:xfrm>
            <a:off x="10332719" y="2743200"/>
            <a:ext cx="1691640" cy="10972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69880" y="2907792"/>
            <a:ext cx="411480" cy="307777"/>
          </a:xfrm>
          <a:prstGeom prst="rect">
            <a:avLst/>
          </a:prstGeom>
          <a:noFill/>
        </p:spPr>
        <p:txBody>
          <a:bodyPr wrap="square" lIns="45720" rIns="45720" anchor="t">
            <a:spAutoFit/>
          </a:bodyPr>
          <a:lstStyle/>
          <a:p>
            <a:pPr algn="l">
              <a:defRPr sz="1100" b="1">
                <a:solidFill>
                  <a:srgbClr val="1E8486"/>
                </a:solidFill>
                <a:latin typeface="Aptos"/>
              </a:defRPr>
            </a:pPr>
            <a:r>
              <a:rPr sz="1400"/>
              <a:t>06</a:t>
            </a:r>
          </a:p>
        </p:txBody>
      </p:sp>
      <p:sp>
        <p:nvSpPr>
          <p:cNvPr id="27" name="TextBox 26"/>
          <p:cNvSpPr txBox="1"/>
          <p:nvPr/>
        </p:nvSpPr>
        <p:spPr>
          <a:xfrm>
            <a:off x="10469880" y="3246120"/>
            <a:ext cx="1417320" cy="365760"/>
          </a:xfrm>
          <a:prstGeom prst="rect">
            <a:avLst/>
          </a:prstGeom>
          <a:noFill/>
        </p:spPr>
        <p:txBody>
          <a:bodyPr wrap="square" lIns="45720" rIns="45720" anchor="t">
            <a:spAutoFit/>
          </a:bodyPr>
          <a:lstStyle/>
          <a:p>
            <a:pPr algn="l">
              <a:defRPr sz="1300" b="1">
                <a:solidFill>
                  <a:srgbClr val="2D353D"/>
                </a:solidFill>
                <a:latin typeface="Aptos"/>
              </a:defRPr>
            </a:pPr>
            <a:r>
              <a:t>Interpret &amp; apply</a:t>
            </a:r>
          </a:p>
        </p:txBody>
      </p:sp>
      <p:sp>
        <p:nvSpPr>
          <p:cNvPr id="28" name="TextBox 27"/>
          <p:cNvSpPr txBox="1"/>
          <p:nvPr/>
        </p:nvSpPr>
        <p:spPr>
          <a:xfrm>
            <a:off x="777240" y="4892040"/>
            <a:ext cx="10607040" cy="502920"/>
          </a:xfrm>
          <a:prstGeom prst="rect">
            <a:avLst/>
          </a:prstGeom>
          <a:noFill/>
        </p:spPr>
        <p:txBody>
          <a:bodyPr wrap="square" lIns="45720" rIns="45720" anchor="t">
            <a:spAutoFit/>
          </a:bodyPr>
          <a:lstStyle/>
          <a:p>
            <a:pPr algn="ctr">
              <a:defRPr sz="1600" b="0">
                <a:solidFill>
                  <a:srgbClr val="6A7580"/>
                </a:solidFill>
                <a:latin typeface="Aptos"/>
              </a:defRPr>
            </a:pPr>
            <a:r>
              <a:rPr dirty="0"/>
              <a:t>The test set was held out for final evaluation, and preprocessing was fit only on training data to prevent leakage.</a:t>
            </a:r>
          </a:p>
        </p:txBody>
      </p:sp>
      <p:sp>
        <p:nvSpPr>
          <p:cNvPr id="29" name="TextBox 28"/>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EXPLORATORY ANALYSIS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Purchases were the minority outcome</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extLst>
              <p:ext uri="{D42A27DB-BD31-4B8C-83A1-F6EECF244321}">
                <p14:modId xmlns:p14="http://schemas.microsoft.com/office/powerpoint/2010/main" val="3628145981"/>
              </p:ext>
            </p:extLst>
          </p:nvPr>
        </p:nvGraphicFramePr>
        <p:xfrm>
          <a:off x="731520" y="224028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6903720" y="2423160"/>
            <a:ext cx="3977639" cy="132588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04888" y="2606040"/>
            <a:ext cx="3575303" cy="523220"/>
          </a:xfrm>
          <a:prstGeom prst="rect">
            <a:avLst/>
          </a:prstGeom>
          <a:noFill/>
        </p:spPr>
        <p:txBody>
          <a:bodyPr wrap="square" lIns="45720" rIns="45720" anchor="t">
            <a:spAutoFit/>
          </a:bodyPr>
          <a:lstStyle/>
          <a:p>
            <a:pPr algn="l">
              <a:defRPr sz="2500" b="1">
                <a:solidFill>
                  <a:srgbClr val="EE765C"/>
                </a:solidFill>
                <a:latin typeface="Aptos"/>
              </a:defRPr>
            </a:pPr>
            <a:r>
              <a:rPr sz="2800" dirty="0"/>
              <a:t>15.5%</a:t>
            </a:r>
          </a:p>
        </p:txBody>
      </p:sp>
      <p:sp>
        <p:nvSpPr>
          <p:cNvPr id="8" name="TextBox 7"/>
          <p:cNvSpPr txBox="1"/>
          <p:nvPr/>
        </p:nvSpPr>
        <p:spPr>
          <a:xfrm>
            <a:off x="7104888" y="3172968"/>
            <a:ext cx="3575303" cy="307777"/>
          </a:xfrm>
          <a:prstGeom prst="rect">
            <a:avLst/>
          </a:prstGeom>
          <a:noFill/>
        </p:spPr>
        <p:txBody>
          <a:bodyPr wrap="square" lIns="45720" rIns="45720" anchor="t">
            <a:spAutoFit/>
          </a:bodyPr>
          <a:lstStyle/>
          <a:p>
            <a:pPr algn="l">
              <a:defRPr sz="1100" b="1">
                <a:solidFill>
                  <a:srgbClr val="2D353D"/>
                </a:solidFill>
                <a:latin typeface="Aptos"/>
              </a:defRPr>
            </a:pPr>
            <a:r>
              <a:rPr sz="1400" dirty="0"/>
              <a:t>Moderately imbalanced target</a:t>
            </a:r>
          </a:p>
        </p:txBody>
      </p:sp>
      <p:sp>
        <p:nvSpPr>
          <p:cNvPr id="9" name="TextBox 8"/>
          <p:cNvSpPr txBox="1"/>
          <p:nvPr/>
        </p:nvSpPr>
        <p:spPr>
          <a:xfrm>
            <a:off x="6903720" y="4160520"/>
            <a:ext cx="1828800" cy="320040"/>
          </a:xfrm>
          <a:prstGeom prst="rect">
            <a:avLst/>
          </a:prstGeom>
          <a:noFill/>
        </p:spPr>
        <p:txBody>
          <a:bodyPr wrap="square" lIns="45720" rIns="45720" anchor="t">
            <a:spAutoFit/>
          </a:bodyPr>
          <a:lstStyle/>
          <a:p>
            <a:pPr algn="l">
              <a:defRPr sz="1300" b="1">
                <a:solidFill>
                  <a:srgbClr val="1E8486"/>
                </a:solidFill>
                <a:latin typeface="Aptos"/>
              </a:defRPr>
            </a:pPr>
            <a:r>
              <a:t>Why it matters</a:t>
            </a:r>
          </a:p>
        </p:txBody>
      </p:sp>
      <p:sp>
        <p:nvSpPr>
          <p:cNvPr id="10" name="TextBox 9"/>
          <p:cNvSpPr txBox="1"/>
          <p:nvPr/>
        </p:nvSpPr>
        <p:spPr>
          <a:xfrm>
            <a:off x="6903720" y="4526280"/>
            <a:ext cx="3977639" cy="1234440"/>
          </a:xfrm>
          <a:prstGeom prst="rect">
            <a:avLst/>
          </a:prstGeom>
          <a:noFill/>
        </p:spPr>
        <p:txBody>
          <a:bodyPr wrap="square" lIns="45720" rIns="45720" anchor="t">
            <a:spAutoFit/>
          </a:bodyPr>
          <a:lstStyle/>
          <a:p>
            <a:pPr algn="l">
              <a:defRPr sz="1500" b="0">
                <a:solidFill>
                  <a:srgbClr val="2D353D"/>
                </a:solidFill>
                <a:latin typeface="Aptos"/>
              </a:defRPr>
            </a:pPr>
            <a:r>
              <a:t>A model could achieve high accuracy simply by predicting the majority class. Performance therefore needed to go beyond accuracy and include precision, recall, F1-score, and ROC-AUC.</a:t>
            </a:r>
          </a:p>
        </p:txBody>
      </p:sp>
      <p:sp>
        <p:nvSpPr>
          <p:cNvPr id="11" name="TextBox 10"/>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6999"/>
          </a:xfrm>
          <a:prstGeom prst="rect">
            <a:avLst/>
          </a:prstGeom>
          <a:noFill/>
        </p:spPr>
        <p:txBody>
          <a:bodyPr wrap="square" lIns="45720" rIns="45720" anchor="t">
            <a:spAutoFit/>
          </a:bodyPr>
          <a:lstStyle/>
          <a:p>
            <a:pPr algn="l">
              <a:defRPr sz="1000" b="1">
                <a:solidFill>
                  <a:srgbClr val="1E8486"/>
                </a:solidFill>
                <a:latin typeface="Aptos"/>
              </a:defRPr>
            </a:pPr>
            <a:r>
              <a:rPr sz="1200" dirty="0"/>
              <a:t>EXPLORATORY ANALYSIS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Purchase intent varied by visitor type and season</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extLst>
              <p:ext uri="{D42A27DB-BD31-4B8C-83A1-F6EECF244321}">
                <p14:modId xmlns:p14="http://schemas.microsoft.com/office/powerpoint/2010/main" val="712399263"/>
              </p:ext>
            </p:extLst>
          </p:nvPr>
        </p:nvGraphicFramePr>
        <p:xfrm>
          <a:off x="685800" y="2148840"/>
          <a:ext cx="516636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noGrp="1"/>
          </p:cNvGraphicFramePr>
          <p:nvPr>
            <p:extLst>
              <p:ext uri="{D42A27DB-BD31-4B8C-83A1-F6EECF244321}">
                <p14:modId xmlns:p14="http://schemas.microsoft.com/office/powerpoint/2010/main" val="1598639902"/>
              </p:ext>
            </p:extLst>
          </p:nvPr>
        </p:nvGraphicFramePr>
        <p:xfrm>
          <a:off x="6217920" y="2148840"/>
          <a:ext cx="525780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777240" y="5806440"/>
            <a:ext cx="10607040" cy="411480"/>
          </a:xfrm>
          <a:prstGeom prst="rect">
            <a:avLst/>
          </a:prstGeom>
          <a:noFill/>
        </p:spPr>
        <p:txBody>
          <a:bodyPr wrap="square" lIns="45720" rIns="45720" anchor="t">
            <a:spAutoFit/>
          </a:bodyPr>
          <a:lstStyle/>
          <a:p>
            <a:pPr algn="ctr">
              <a:defRPr sz="1500" b="0">
                <a:solidFill>
                  <a:srgbClr val="6A7580"/>
                </a:solidFill>
                <a:latin typeface="Aptos"/>
              </a:defRPr>
            </a:pPr>
            <a:r>
              <a:t>New visitors showed the highest purchase rate, while purchase activity generally increased into the fall and peaked in November.</a:t>
            </a:r>
          </a:p>
        </p:txBody>
      </p:sp>
      <p:sp>
        <p:nvSpPr>
          <p:cNvPr id="8" name="TextBox 7"/>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6999"/>
          </a:xfrm>
          <a:prstGeom prst="rect">
            <a:avLst/>
          </a:prstGeom>
          <a:noFill/>
        </p:spPr>
        <p:txBody>
          <a:bodyPr wrap="square" lIns="45720" rIns="45720" anchor="t">
            <a:spAutoFit/>
          </a:bodyPr>
          <a:lstStyle/>
          <a:p>
            <a:pPr algn="l">
              <a:defRPr sz="1000" b="1">
                <a:solidFill>
                  <a:srgbClr val="1E8486"/>
                </a:solidFill>
                <a:latin typeface="Aptos"/>
              </a:defRPr>
            </a:pPr>
            <a:r>
              <a:rPr sz="1200"/>
              <a:t>EXPLORATORY ANALYSIS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Purchasing sessions showed deeper website engagement</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194560"/>
            <a:ext cx="4892040" cy="126187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359152"/>
            <a:ext cx="1828800" cy="307777"/>
          </a:xfrm>
          <a:prstGeom prst="rect">
            <a:avLst/>
          </a:prstGeom>
          <a:noFill/>
        </p:spPr>
        <p:txBody>
          <a:bodyPr wrap="square" lIns="45720" rIns="45720" anchor="t">
            <a:spAutoFit/>
          </a:bodyPr>
          <a:lstStyle/>
          <a:p>
            <a:pPr algn="l">
              <a:defRPr sz="1300" b="1">
                <a:solidFill>
                  <a:srgbClr val="1E8486"/>
                </a:solidFill>
                <a:latin typeface="Aptos"/>
              </a:defRPr>
            </a:pPr>
            <a:r>
              <a:rPr sz="1400" dirty="0"/>
              <a:t>Product pages</a:t>
            </a:r>
          </a:p>
        </p:txBody>
      </p:sp>
      <p:sp>
        <p:nvSpPr>
          <p:cNvPr id="7" name="TextBox 6"/>
          <p:cNvSpPr txBox="1"/>
          <p:nvPr/>
        </p:nvSpPr>
        <p:spPr>
          <a:xfrm>
            <a:off x="886968" y="2706624"/>
            <a:ext cx="2926080" cy="365760"/>
          </a:xfrm>
          <a:prstGeom prst="rect">
            <a:avLst/>
          </a:prstGeom>
          <a:noFill/>
        </p:spPr>
        <p:txBody>
          <a:bodyPr wrap="square" lIns="45720" rIns="45720" anchor="t">
            <a:spAutoFit/>
          </a:bodyPr>
          <a:lstStyle/>
          <a:p>
            <a:pPr algn="l">
              <a:defRPr sz="2100" b="1">
                <a:solidFill>
                  <a:srgbClr val="2D353D"/>
                </a:solidFill>
                <a:latin typeface="Aptos"/>
              </a:defRPr>
            </a:pPr>
            <a:r>
              <a:t>16 → 29</a:t>
            </a:r>
          </a:p>
        </p:txBody>
      </p:sp>
      <p:sp>
        <p:nvSpPr>
          <p:cNvPr id="8" name="TextBox 7"/>
          <p:cNvSpPr txBox="1"/>
          <p:nvPr/>
        </p:nvSpPr>
        <p:spPr>
          <a:xfrm>
            <a:off x="3657600" y="2743200"/>
            <a:ext cx="1645920" cy="276999"/>
          </a:xfrm>
          <a:prstGeom prst="rect">
            <a:avLst/>
          </a:prstGeom>
          <a:noFill/>
        </p:spPr>
        <p:txBody>
          <a:bodyPr wrap="square" lIns="45720" rIns="45720" anchor="t">
            <a:spAutoFit/>
          </a:bodyPr>
          <a:lstStyle/>
          <a:p>
            <a:pPr algn="l">
              <a:defRPr sz="1000" b="0">
                <a:solidFill>
                  <a:srgbClr val="6A7580"/>
                </a:solidFill>
                <a:latin typeface="Aptos"/>
              </a:defRPr>
            </a:pPr>
            <a:r>
              <a:rPr sz="1200" dirty="0"/>
              <a:t>Median pages visited</a:t>
            </a:r>
          </a:p>
        </p:txBody>
      </p:sp>
      <p:sp>
        <p:nvSpPr>
          <p:cNvPr id="9" name="Rounded Rectangle 8"/>
          <p:cNvSpPr/>
          <p:nvPr/>
        </p:nvSpPr>
        <p:spPr>
          <a:xfrm>
            <a:off x="6080760" y="2194560"/>
            <a:ext cx="4892040" cy="126187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81928" y="2359152"/>
            <a:ext cx="1828800" cy="307777"/>
          </a:xfrm>
          <a:prstGeom prst="rect">
            <a:avLst/>
          </a:prstGeom>
          <a:noFill/>
        </p:spPr>
        <p:txBody>
          <a:bodyPr wrap="square" lIns="45720" rIns="45720" anchor="t">
            <a:spAutoFit/>
          </a:bodyPr>
          <a:lstStyle/>
          <a:p>
            <a:pPr algn="l">
              <a:defRPr sz="1300" b="1">
                <a:solidFill>
                  <a:srgbClr val="EE765C"/>
                </a:solidFill>
                <a:latin typeface="Aptos"/>
              </a:defRPr>
            </a:pPr>
            <a:r>
              <a:rPr sz="1400" dirty="0"/>
              <a:t>Product time</a:t>
            </a:r>
          </a:p>
        </p:txBody>
      </p:sp>
      <p:sp>
        <p:nvSpPr>
          <p:cNvPr id="11" name="TextBox 10"/>
          <p:cNvSpPr txBox="1"/>
          <p:nvPr/>
        </p:nvSpPr>
        <p:spPr>
          <a:xfrm>
            <a:off x="6281928" y="2706624"/>
            <a:ext cx="2926080" cy="365760"/>
          </a:xfrm>
          <a:prstGeom prst="rect">
            <a:avLst/>
          </a:prstGeom>
          <a:noFill/>
        </p:spPr>
        <p:txBody>
          <a:bodyPr wrap="square" lIns="45720" rIns="45720" anchor="t">
            <a:spAutoFit/>
          </a:bodyPr>
          <a:lstStyle/>
          <a:p>
            <a:pPr algn="l">
              <a:defRPr sz="2100" b="1">
                <a:solidFill>
                  <a:srgbClr val="2D353D"/>
                </a:solidFill>
                <a:latin typeface="Aptos"/>
              </a:defRPr>
            </a:pPr>
            <a:r>
              <a:t>510 → 1,110 sec</a:t>
            </a:r>
          </a:p>
        </p:txBody>
      </p:sp>
      <p:sp>
        <p:nvSpPr>
          <p:cNvPr id="12" name="TextBox 11"/>
          <p:cNvSpPr txBox="1"/>
          <p:nvPr/>
        </p:nvSpPr>
        <p:spPr>
          <a:xfrm>
            <a:off x="9052560" y="2743200"/>
            <a:ext cx="1645920" cy="276999"/>
          </a:xfrm>
          <a:prstGeom prst="rect">
            <a:avLst/>
          </a:prstGeom>
          <a:noFill/>
        </p:spPr>
        <p:txBody>
          <a:bodyPr wrap="square" lIns="45720" rIns="45720" anchor="t">
            <a:spAutoFit/>
          </a:bodyPr>
          <a:lstStyle/>
          <a:p>
            <a:pPr algn="l">
              <a:defRPr sz="1000" b="0">
                <a:solidFill>
                  <a:srgbClr val="6A7580"/>
                </a:solidFill>
                <a:latin typeface="Aptos"/>
              </a:defRPr>
            </a:pPr>
            <a:r>
              <a:rPr sz="1200"/>
              <a:t>Median duration</a:t>
            </a:r>
          </a:p>
        </p:txBody>
      </p:sp>
      <p:sp>
        <p:nvSpPr>
          <p:cNvPr id="13" name="Rounded Rectangle 12"/>
          <p:cNvSpPr/>
          <p:nvPr/>
        </p:nvSpPr>
        <p:spPr>
          <a:xfrm>
            <a:off x="685800" y="3794760"/>
            <a:ext cx="4892040" cy="126187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3959352"/>
            <a:ext cx="1828800" cy="307777"/>
          </a:xfrm>
          <a:prstGeom prst="rect">
            <a:avLst/>
          </a:prstGeom>
          <a:noFill/>
        </p:spPr>
        <p:txBody>
          <a:bodyPr wrap="square" lIns="45720" rIns="45720" anchor="t">
            <a:spAutoFit/>
          </a:bodyPr>
          <a:lstStyle/>
          <a:p>
            <a:pPr algn="l">
              <a:defRPr sz="1300" b="1">
                <a:solidFill>
                  <a:srgbClr val="E0B154"/>
                </a:solidFill>
                <a:latin typeface="Aptos"/>
              </a:defRPr>
            </a:pPr>
            <a:r>
              <a:rPr sz="1400"/>
              <a:t>Exit rate</a:t>
            </a:r>
          </a:p>
        </p:txBody>
      </p:sp>
      <p:sp>
        <p:nvSpPr>
          <p:cNvPr id="15" name="TextBox 14"/>
          <p:cNvSpPr txBox="1"/>
          <p:nvPr/>
        </p:nvSpPr>
        <p:spPr>
          <a:xfrm>
            <a:off x="886968" y="4306824"/>
            <a:ext cx="2926080" cy="365760"/>
          </a:xfrm>
          <a:prstGeom prst="rect">
            <a:avLst/>
          </a:prstGeom>
          <a:noFill/>
        </p:spPr>
        <p:txBody>
          <a:bodyPr wrap="square" lIns="45720" rIns="45720" anchor="t">
            <a:spAutoFit/>
          </a:bodyPr>
          <a:lstStyle/>
          <a:p>
            <a:pPr algn="l">
              <a:defRPr sz="2100" b="1">
                <a:solidFill>
                  <a:srgbClr val="2D353D"/>
                </a:solidFill>
                <a:latin typeface="Aptos"/>
              </a:defRPr>
            </a:pPr>
            <a:r>
              <a:t>0.029 → 0.016</a:t>
            </a:r>
          </a:p>
        </p:txBody>
      </p:sp>
      <p:sp>
        <p:nvSpPr>
          <p:cNvPr id="16" name="TextBox 15"/>
          <p:cNvSpPr txBox="1"/>
          <p:nvPr/>
        </p:nvSpPr>
        <p:spPr>
          <a:xfrm>
            <a:off x="3657600" y="4343400"/>
            <a:ext cx="1645920" cy="461665"/>
          </a:xfrm>
          <a:prstGeom prst="rect">
            <a:avLst/>
          </a:prstGeom>
          <a:noFill/>
        </p:spPr>
        <p:txBody>
          <a:bodyPr wrap="square" lIns="45720" rIns="45720" anchor="t">
            <a:spAutoFit/>
          </a:bodyPr>
          <a:lstStyle/>
          <a:p>
            <a:pPr algn="l">
              <a:defRPr sz="1000" b="0">
                <a:solidFill>
                  <a:srgbClr val="6A7580"/>
                </a:solidFill>
                <a:latin typeface="Aptos"/>
              </a:defRPr>
            </a:pPr>
            <a:r>
              <a:rPr sz="1200"/>
              <a:t>Lower among purchasers</a:t>
            </a:r>
          </a:p>
        </p:txBody>
      </p:sp>
      <p:sp>
        <p:nvSpPr>
          <p:cNvPr id="17" name="Rounded Rectangle 16"/>
          <p:cNvSpPr/>
          <p:nvPr/>
        </p:nvSpPr>
        <p:spPr>
          <a:xfrm>
            <a:off x="6080760" y="3794760"/>
            <a:ext cx="4892040" cy="126187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81928" y="3959352"/>
            <a:ext cx="1828800" cy="307777"/>
          </a:xfrm>
          <a:prstGeom prst="rect">
            <a:avLst/>
          </a:prstGeom>
          <a:noFill/>
        </p:spPr>
        <p:txBody>
          <a:bodyPr wrap="square" lIns="45720" rIns="45720" anchor="t">
            <a:spAutoFit/>
          </a:bodyPr>
          <a:lstStyle/>
          <a:p>
            <a:pPr algn="l">
              <a:defRPr sz="1300" b="1">
                <a:solidFill>
                  <a:srgbClr val="1E8486"/>
                </a:solidFill>
                <a:latin typeface="Aptos"/>
              </a:defRPr>
            </a:pPr>
            <a:r>
              <a:rPr sz="1400"/>
              <a:t>PageValues</a:t>
            </a:r>
          </a:p>
        </p:txBody>
      </p:sp>
      <p:sp>
        <p:nvSpPr>
          <p:cNvPr id="19" name="TextBox 18"/>
          <p:cNvSpPr txBox="1"/>
          <p:nvPr/>
        </p:nvSpPr>
        <p:spPr>
          <a:xfrm>
            <a:off x="6281928" y="4306824"/>
            <a:ext cx="2926080" cy="365760"/>
          </a:xfrm>
          <a:prstGeom prst="rect">
            <a:avLst/>
          </a:prstGeom>
          <a:noFill/>
        </p:spPr>
        <p:txBody>
          <a:bodyPr wrap="square" lIns="45720" rIns="45720" anchor="t">
            <a:spAutoFit/>
          </a:bodyPr>
          <a:lstStyle/>
          <a:p>
            <a:pPr algn="l">
              <a:defRPr sz="2100" b="1">
                <a:solidFill>
                  <a:srgbClr val="2D353D"/>
                </a:solidFill>
                <a:latin typeface="Aptos"/>
              </a:defRPr>
            </a:pPr>
            <a:r>
              <a:t>0 → 16.8</a:t>
            </a:r>
          </a:p>
        </p:txBody>
      </p:sp>
      <p:sp>
        <p:nvSpPr>
          <p:cNvPr id="20" name="TextBox 19"/>
          <p:cNvSpPr txBox="1"/>
          <p:nvPr/>
        </p:nvSpPr>
        <p:spPr>
          <a:xfrm>
            <a:off x="9052560" y="4343400"/>
            <a:ext cx="1645920" cy="461665"/>
          </a:xfrm>
          <a:prstGeom prst="rect">
            <a:avLst/>
          </a:prstGeom>
          <a:noFill/>
        </p:spPr>
        <p:txBody>
          <a:bodyPr wrap="square" lIns="45720" rIns="45720" anchor="t">
            <a:spAutoFit/>
          </a:bodyPr>
          <a:lstStyle/>
          <a:p>
            <a:pPr algn="l">
              <a:defRPr sz="1000" b="0">
                <a:solidFill>
                  <a:srgbClr val="6A7580"/>
                </a:solidFill>
                <a:latin typeface="Aptos"/>
              </a:defRPr>
            </a:pPr>
            <a:r>
              <a:rPr sz="1200"/>
              <a:t>Largest median difference</a:t>
            </a:r>
          </a:p>
        </p:txBody>
      </p:sp>
      <p:sp>
        <p:nvSpPr>
          <p:cNvPr id="21" name="TextBox 20"/>
          <p:cNvSpPr txBox="1"/>
          <p:nvPr/>
        </p:nvSpPr>
        <p:spPr>
          <a:xfrm>
            <a:off x="685800" y="5669280"/>
            <a:ext cx="10698480" cy="457200"/>
          </a:xfrm>
          <a:prstGeom prst="rect">
            <a:avLst/>
          </a:prstGeom>
          <a:noFill/>
        </p:spPr>
        <p:txBody>
          <a:bodyPr wrap="square" lIns="45720" rIns="45720" anchor="t">
            <a:spAutoFit/>
          </a:bodyPr>
          <a:lstStyle/>
          <a:p>
            <a:pPr algn="ctr">
              <a:defRPr sz="1600" b="0">
                <a:solidFill>
                  <a:srgbClr val="2D353D"/>
                </a:solidFill>
                <a:latin typeface="Aptos"/>
              </a:defRPr>
            </a:pPr>
            <a:r>
              <a:t>Across multiple measures, purchasing sessions were characterized by more product-related activity and lower exit behavior.</a:t>
            </a:r>
          </a:p>
        </p:txBody>
      </p:sp>
      <p:sp>
        <p:nvSpPr>
          <p:cNvPr id="22" name="TextBox 21"/>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338"/>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69C9C4"/>
                </a:solidFill>
                <a:latin typeface="Aptos"/>
              </a:defRPr>
            </a:pPr>
            <a:r>
              <a:rPr sz="1200" dirty="0"/>
              <a:t>MODELING STRATEGY</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FFFFFF"/>
                </a:solidFill>
                <a:latin typeface="Aptos"/>
              </a:defRPr>
            </a:pPr>
            <a:r>
              <a:t>Three approaches, from simple baseline to advanced modeling</a:t>
            </a:r>
          </a:p>
        </p:txBody>
      </p:sp>
      <p:sp>
        <p:nvSpPr>
          <p:cNvPr id="4" name="Rectangle 3"/>
          <p:cNvSpPr/>
          <p:nvPr/>
        </p:nvSpPr>
        <p:spPr>
          <a:xfrm>
            <a:off x="640080" y="1847088"/>
            <a:ext cx="1005840" cy="45720"/>
          </a:xfrm>
          <a:prstGeom prst="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331720"/>
            <a:ext cx="3246120" cy="2514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2697480"/>
            <a:ext cx="2743200" cy="369332"/>
          </a:xfrm>
          <a:prstGeom prst="rect">
            <a:avLst/>
          </a:prstGeom>
          <a:noFill/>
        </p:spPr>
        <p:txBody>
          <a:bodyPr wrap="square" lIns="45720" rIns="45720" anchor="t">
            <a:spAutoFit/>
          </a:bodyPr>
          <a:lstStyle/>
          <a:p>
            <a:pPr algn="l">
              <a:defRPr sz="1800" b="1">
                <a:solidFill>
                  <a:srgbClr val="69C9C4"/>
                </a:solidFill>
                <a:latin typeface="Aptos"/>
              </a:defRPr>
            </a:pPr>
            <a:r>
              <a:rPr dirty="0"/>
              <a:t>Logistic Regression</a:t>
            </a:r>
          </a:p>
        </p:txBody>
      </p:sp>
      <p:sp>
        <p:nvSpPr>
          <p:cNvPr id="7" name="TextBox 6"/>
          <p:cNvSpPr txBox="1"/>
          <p:nvPr/>
        </p:nvSpPr>
        <p:spPr>
          <a:xfrm>
            <a:off x="941832" y="3401568"/>
            <a:ext cx="2651760" cy="320040"/>
          </a:xfrm>
          <a:prstGeom prst="rect">
            <a:avLst/>
          </a:prstGeom>
          <a:noFill/>
        </p:spPr>
        <p:txBody>
          <a:bodyPr wrap="square" lIns="45720" rIns="45720" anchor="t">
            <a:spAutoFit/>
          </a:bodyPr>
          <a:lstStyle/>
          <a:p>
            <a:pPr algn="l">
              <a:defRPr sz="1200" b="1">
                <a:solidFill>
                  <a:srgbClr val="152338"/>
                </a:solidFill>
                <a:latin typeface="Aptos"/>
              </a:defRPr>
            </a:pPr>
            <a:r>
              <a:rPr dirty="0"/>
              <a:t>Transparent baseline</a:t>
            </a:r>
          </a:p>
        </p:txBody>
      </p:sp>
      <p:sp>
        <p:nvSpPr>
          <p:cNvPr id="8" name="TextBox 7"/>
          <p:cNvSpPr txBox="1"/>
          <p:nvPr/>
        </p:nvSpPr>
        <p:spPr>
          <a:xfrm>
            <a:off x="941832" y="3886200"/>
            <a:ext cx="2651760" cy="594360"/>
          </a:xfrm>
          <a:prstGeom prst="rect">
            <a:avLst/>
          </a:prstGeom>
          <a:noFill/>
        </p:spPr>
        <p:txBody>
          <a:bodyPr wrap="square" lIns="45720" rIns="45720" anchor="t">
            <a:spAutoFit/>
          </a:bodyPr>
          <a:lstStyle/>
          <a:p>
            <a:pPr algn="l">
              <a:defRPr sz="1400" b="0">
                <a:solidFill>
                  <a:srgbClr val="2D353D"/>
                </a:solidFill>
                <a:latin typeface="Aptos"/>
              </a:defRPr>
            </a:pPr>
            <a:r>
              <a:rPr dirty="0"/>
              <a:t>Linear relationships</a:t>
            </a:r>
          </a:p>
        </p:txBody>
      </p:sp>
      <p:sp>
        <p:nvSpPr>
          <p:cNvPr id="9" name="Rounded Rectangle 8"/>
          <p:cNvSpPr/>
          <p:nvPr/>
        </p:nvSpPr>
        <p:spPr>
          <a:xfrm>
            <a:off x="4434840" y="2331720"/>
            <a:ext cx="3246120" cy="2514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90872" y="2697480"/>
            <a:ext cx="2743200" cy="369332"/>
          </a:xfrm>
          <a:prstGeom prst="rect">
            <a:avLst/>
          </a:prstGeom>
          <a:noFill/>
        </p:spPr>
        <p:txBody>
          <a:bodyPr wrap="square" lIns="45720" rIns="45720" anchor="t">
            <a:spAutoFit/>
          </a:bodyPr>
          <a:lstStyle/>
          <a:p>
            <a:pPr algn="l">
              <a:defRPr sz="1800" b="1">
                <a:solidFill>
                  <a:srgbClr val="1E8486"/>
                </a:solidFill>
                <a:latin typeface="Aptos"/>
              </a:defRPr>
            </a:pPr>
            <a:r>
              <a:rPr dirty="0"/>
              <a:t>Random Forest</a:t>
            </a:r>
          </a:p>
        </p:txBody>
      </p:sp>
      <p:sp>
        <p:nvSpPr>
          <p:cNvPr id="11" name="TextBox 10"/>
          <p:cNvSpPr txBox="1"/>
          <p:nvPr/>
        </p:nvSpPr>
        <p:spPr>
          <a:xfrm>
            <a:off x="4690872" y="3401568"/>
            <a:ext cx="2651760" cy="320040"/>
          </a:xfrm>
          <a:prstGeom prst="rect">
            <a:avLst/>
          </a:prstGeom>
          <a:noFill/>
        </p:spPr>
        <p:txBody>
          <a:bodyPr wrap="square" lIns="45720" rIns="45720" anchor="t">
            <a:spAutoFit/>
          </a:bodyPr>
          <a:lstStyle/>
          <a:p>
            <a:pPr algn="l">
              <a:defRPr sz="1200" b="1">
                <a:solidFill>
                  <a:srgbClr val="152338"/>
                </a:solidFill>
                <a:latin typeface="Aptos"/>
              </a:defRPr>
            </a:pPr>
            <a:r>
              <a:t>Nonlinear benchmark</a:t>
            </a:r>
          </a:p>
        </p:txBody>
      </p:sp>
      <p:sp>
        <p:nvSpPr>
          <p:cNvPr id="12" name="TextBox 11"/>
          <p:cNvSpPr txBox="1"/>
          <p:nvPr/>
        </p:nvSpPr>
        <p:spPr>
          <a:xfrm>
            <a:off x="4690872" y="3886200"/>
            <a:ext cx="2651760" cy="594360"/>
          </a:xfrm>
          <a:prstGeom prst="rect">
            <a:avLst/>
          </a:prstGeom>
          <a:noFill/>
        </p:spPr>
        <p:txBody>
          <a:bodyPr wrap="square" lIns="45720" rIns="45720" anchor="t">
            <a:spAutoFit/>
          </a:bodyPr>
          <a:lstStyle/>
          <a:p>
            <a:pPr algn="l">
              <a:defRPr sz="1400" b="0">
                <a:solidFill>
                  <a:srgbClr val="2D353D"/>
                </a:solidFill>
                <a:latin typeface="Aptos"/>
              </a:defRPr>
            </a:pPr>
            <a:r>
              <a:t>Captures interactions</a:t>
            </a:r>
          </a:p>
        </p:txBody>
      </p:sp>
      <p:sp>
        <p:nvSpPr>
          <p:cNvPr id="13" name="Rounded Rectangle 12"/>
          <p:cNvSpPr/>
          <p:nvPr/>
        </p:nvSpPr>
        <p:spPr>
          <a:xfrm>
            <a:off x="8183879" y="2331720"/>
            <a:ext cx="3246120" cy="2514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9911" y="2697480"/>
            <a:ext cx="2743200" cy="369332"/>
          </a:xfrm>
          <a:prstGeom prst="rect">
            <a:avLst/>
          </a:prstGeom>
          <a:noFill/>
        </p:spPr>
        <p:txBody>
          <a:bodyPr wrap="square" lIns="45720" rIns="45720" anchor="t">
            <a:spAutoFit/>
          </a:bodyPr>
          <a:lstStyle/>
          <a:p>
            <a:pPr algn="l">
              <a:defRPr sz="1800" b="1">
                <a:solidFill>
                  <a:srgbClr val="EE765C"/>
                </a:solidFill>
                <a:latin typeface="Aptos"/>
              </a:defRPr>
            </a:pPr>
            <a:r>
              <a:t>Deep Neural Network</a:t>
            </a:r>
          </a:p>
        </p:txBody>
      </p:sp>
      <p:sp>
        <p:nvSpPr>
          <p:cNvPr id="15" name="TextBox 14"/>
          <p:cNvSpPr txBox="1"/>
          <p:nvPr/>
        </p:nvSpPr>
        <p:spPr>
          <a:xfrm>
            <a:off x="8439911" y="3401568"/>
            <a:ext cx="2651760" cy="320040"/>
          </a:xfrm>
          <a:prstGeom prst="rect">
            <a:avLst/>
          </a:prstGeom>
          <a:noFill/>
        </p:spPr>
        <p:txBody>
          <a:bodyPr wrap="square" lIns="45720" rIns="45720" anchor="t">
            <a:spAutoFit/>
          </a:bodyPr>
          <a:lstStyle/>
          <a:p>
            <a:pPr algn="l">
              <a:defRPr sz="1200" b="1">
                <a:solidFill>
                  <a:srgbClr val="152338"/>
                </a:solidFill>
                <a:latin typeface="Aptos"/>
              </a:defRPr>
            </a:pPr>
            <a:r>
              <a:t>Advanced model</a:t>
            </a:r>
          </a:p>
        </p:txBody>
      </p:sp>
      <p:sp>
        <p:nvSpPr>
          <p:cNvPr id="16" name="TextBox 15"/>
          <p:cNvSpPr txBox="1"/>
          <p:nvPr/>
        </p:nvSpPr>
        <p:spPr>
          <a:xfrm>
            <a:off x="8439911" y="3886200"/>
            <a:ext cx="2651760" cy="594360"/>
          </a:xfrm>
          <a:prstGeom prst="rect">
            <a:avLst/>
          </a:prstGeom>
          <a:noFill/>
        </p:spPr>
        <p:txBody>
          <a:bodyPr wrap="square" lIns="45720" rIns="45720" anchor="t">
            <a:spAutoFit/>
          </a:bodyPr>
          <a:lstStyle/>
          <a:p>
            <a:pPr algn="l">
              <a:defRPr sz="1400" b="0">
                <a:solidFill>
                  <a:srgbClr val="2D353D"/>
                </a:solidFill>
                <a:latin typeface="Aptos"/>
              </a:defRPr>
            </a:pPr>
            <a:r>
              <a:t>Tests added complexity</a:t>
            </a:r>
          </a:p>
        </p:txBody>
      </p:sp>
      <p:sp>
        <p:nvSpPr>
          <p:cNvPr id="17" name="TextBox 16"/>
          <p:cNvSpPr txBox="1"/>
          <p:nvPr/>
        </p:nvSpPr>
        <p:spPr>
          <a:xfrm>
            <a:off x="777240" y="5394960"/>
            <a:ext cx="10607040" cy="457200"/>
          </a:xfrm>
          <a:prstGeom prst="rect">
            <a:avLst/>
          </a:prstGeom>
          <a:noFill/>
        </p:spPr>
        <p:txBody>
          <a:bodyPr wrap="square" lIns="45720" rIns="45720" anchor="t">
            <a:spAutoFit/>
          </a:bodyPr>
          <a:lstStyle/>
          <a:p>
            <a:pPr algn="ctr">
              <a:defRPr sz="1600" b="0">
                <a:solidFill>
                  <a:srgbClr val="FFFFFF"/>
                </a:solidFill>
                <a:latin typeface="Aptos"/>
              </a:defRPr>
            </a:pPr>
            <a:r>
              <a:rPr dirty="0"/>
              <a:t>Baseline models established a benchmark; selected models were then tuned without using the held-out test set.</a:t>
            </a:r>
          </a:p>
        </p:txBody>
      </p:sp>
      <p:sp>
        <p:nvSpPr>
          <p:cNvPr id="18" name="TextBox 17"/>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RESULTS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The Tuned Random Forest provided the strongest overall balance</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85800" y="2148840"/>
          <a:ext cx="9875520" cy="333756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556260">
                <a:tc>
                  <a:txBody>
                    <a:bodyPr/>
                    <a:lstStyle/>
                    <a:p>
                      <a:pPr>
                        <a:defRPr sz="1100" b="1">
                          <a:solidFill>
                            <a:srgbClr val="FFFFFF"/>
                          </a:solidFill>
                        </a:defRPr>
                      </a:pPr>
                      <a:r>
                        <a:t>Model</a:t>
                      </a:r>
                    </a:p>
                  </a:txBody>
                  <a:tcPr>
                    <a:solidFill>
                      <a:srgbClr val="152338"/>
                    </a:solidFill>
                  </a:tcPr>
                </a:tc>
                <a:tc>
                  <a:txBody>
                    <a:bodyPr/>
                    <a:lstStyle/>
                    <a:p>
                      <a:pPr>
                        <a:defRPr sz="1100" b="1">
                          <a:solidFill>
                            <a:srgbClr val="FFFFFF"/>
                          </a:solidFill>
                        </a:defRPr>
                      </a:pPr>
                      <a:r>
                        <a:t>Accuracy</a:t>
                      </a:r>
                    </a:p>
                  </a:txBody>
                  <a:tcPr>
                    <a:solidFill>
                      <a:srgbClr val="152338"/>
                    </a:solidFill>
                  </a:tcPr>
                </a:tc>
                <a:tc>
                  <a:txBody>
                    <a:bodyPr/>
                    <a:lstStyle/>
                    <a:p>
                      <a:pPr>
                        <a:defRPr sz="1100" b="1">
                          <a:solidFill>
                            <a:srgbClr val="FFFFFF"/>
                          </a:solidFill>
                        </a:defRPr>
                      </a:pPr>
                      <a:r>
                        <a:t>Precision</a:t>
                      </a:r>
                    </a:p>
                  </a:txBody>
                  <a:tcPr>
                    <a:solidFill>
                      <a:srgbClr val="152338"/>
                    </a:solidFill>
                  </a:tcPr>
                </a:tc>
                <a:tc>
                  <a:txBody>
                    <a:bodyPr/>
                    <a:lstStyle/>
                    <a:p>
                      <a:pPr>
                        <a:defRPr sz="1100" b="1">
                          <a:solidFill>
                            <a:srgbClr val="FFFFFF"/>
                          </a:solidFill>
                        </a:defRPr>
                      </a:pPr>
                      <a:r>
                        <a:t>Recall</a:t>
                      </a:r>
                    </a:p>
                  </a:txBody>
                  <a:tcPr>
                    <a:solidFill>
                      <a:srgbClr val="152338"/>
                    </a:solidFill>
                  </a:tcPr>
                </a:tc>
                <a:tc>
                  <a:txBody>
                    <a:bodyPr/>
                    <a:lstStyle/>
                    <a:p>
                      <a:pPr>
                        <a:defRPr sz="1100" b="1">
                          <a:solidFill>
                            <a:srgbClr val="FFFFFF"/>
                          </a:solidFill>
                        </a:defRPr>
                      </a:pPr>
                      <a:r>
                        <a:t>F1</a:t>
                      </a:r>
                    </a:p>
                  </a:txBody>
                  <a:tcPr>
                    <a:solidFill>
                      <a:srgbClr val="152338"/>
                    </a:solidFill>
                  </a:tcPr>
                </a:tc>
                <a:tc>
                  <a:txBody>
                    <a:bodyPr/>
                    <a:lstStyle/>
                    <a:p>
                      <a:pPr>
                        <a:defRPr sz="1100" b="1">
                          <a:solidFill>
                            <a:srgbClr val="FFFFFF"/>
                          </a:solidFill>
                        </a:defRPr>
                      </a:pPr>
                      <a:r>
                        <a:t>ROC-AUC</a:t>
                      </a:r>
                    </a:p>
                  </a:txBody>
                  <a:tcPr>
                    <a:solidFill>
                      <a:srgbClr val="152338"/>
                    </a:solidFill>
                  </a:tcPr>
                </a:tc>
                <a:extLst>
                  <a:ext uri="{0D108BD9-81ED-4DB2-BD59-A6C34878D82A}">
                    <a16:rowId xmlns:a16="http://schemas.microsoft.com/office/drawing/2014/main" val="10000"/>
                  </a:ext>
                </a:extLst>
              </a:tr>
              <a:tr h="556260">
                <a:tc>
                  <a:txBody>
                    <a:bodyPr/>
                    <a:lstStyle/>
                    <a:p>
                      <a:pPr>
                        <a:defRPr sz="1050">
                          <a:solidFill>
                            <a:srgbClr val="2D353D"/>
                          </a:solidFill>
                        </a:defRPr>
                      </a:pPr>
                      <a:r>
                        <a:t>Logistic Regression</a:t>
                      </a:r>
                    </a:p>
                  </a:txBody>
                  <a:tcPr>
                    <a:solidFill>
                      <a:srgbClr val="FFFFFF"/>
                    </a:solidFill>
                  </a:tcPr>
                </a:tc>
                <a:tc>
                  <a:txBody>
                    <a:bodyPr/>
                    <a:lstStyle/>
                    <a:p>
                      <a:pPr>
                        <a:defRPr sz="1050">
                          <a:solidFill>
                            <a:srgbClr val="2D353D"/>
                          </a:solidFill>
                        </a:defRPr>
                      </a:pPr>
                      <a:r>
                        <a:t>88.1%</a:t>
                      </a:r>
                    </a:p>
                  </a:txBody>
                  <a:tcPr>
                    <a:solidFill>
                      <a:srgbClr val="FFFFFF"/>
                    </a:solidFill>
                  </a:tcPr>
                </a:tc>
                <a:tc>
                  <a:txBody>
                    <a:bodyPr/>
                    <a:lstStyle/>
                    <a:p>
                      <a:pPr>
                        <a:defRPr sz="1050">
                          <a:solidFill>
                            <a:srgbClr val="2D353D"/>
                          </a:solidFill>
                        </a:defRPr>
                      </a:pPr>
                      <a:r>
                        <a:t>74.1%</a:t>
                      </a:r>
                    </a:p>
                  </a:txBody>
                  <a:tcPr>
                    <a:solidFill>
                      <a:srgbClr val="FFFFFF"/>
                    </a:solidFill>
                  </a:tcPr>
                </a:tc>
                <a:tc>
                  <a:txBody>
                    <a:bodyPr/>
                    <a:lstStyle/>
                    <a:p>
                      <a:pPr>
                        <a:defRPr sz="1050">
                          <a:solidFill>
                            <a:srgbClr val="2D353D"/>
                          </a:solidFill>
                        </a:defRPr>
                      </a:pPr>
                      <a:r>
                        <a:t>35.9%</a:t>
                      </a:r>
                    </a:p>
                  </a:txBody>
                  <a:tcPr>
                    <a:solidFill>
                      <a:srgbClr val="FFFFFF"/>
                    </a:solidFill>
                  </a:tcPr>
                </a:tc>
                <a:tc>
                  <a:txBody>
                    <a:bodyPr/>
                    <a:lstStyle/>
                    <a:p>
                      <a:pPr>
                        <a:defRPr sz="1050">
                          <a:solidFill>
                            <a:srgbClr val="2D353D"/>
                          </a:solidFill>
                        </a:defRPr>
                      </a:pPr>
                      <a:r>
                        <a:t>0.483</a:t>
                      </a:r>
                    </a:p>
                  </a:txBody>
                  <a:tcPr>
                    <a:solidFill>
                      <a:srgbClr val="FFFFFF"/>
                    </a:solidFill>
                  </a:tcPr>
                </a:tc>
                <a:tc>
                  <a:txBody>
                    <a:bodyPr/>
                    <a:lstStyle/>
                    <a:p>
                      <a:pPr>
                        <a:defRPr sz="1050">
                          <a:solidFill>
                            <a:srgbClr val="2D353D"/>
                          </a:solidFill>
                        </a:defRPr>
                      </a:pPr>
                      <a:r>
                        <a:t>0.883</a:t>
                      </a:r>
                    </a:p>
                  </a:txBody>
                  <a:tcPr>
                    <a:solidFill>
                      <a:srgbClr val="FFFFFF"/>
                    </a:solidFill>
                  </a:tcPr>
                </a:tc>
                <a:extLst>
                  <a:ext uri="{0D108BD9-81ED-4DB2-BD59-A6C34878D82A}">
                    <a16:rowId xmlns:a16="http://schemas.microsoft.com/office/drawing/2014/main" val="10001"/>
                  </a:ext>
                </a:extLst>
              </a:tr>
              <a:tr h="556260">
                <a:tc>
                  <a:txBody>
                    <a:bodyPr/>
                    <a:lstStyle/>
                    <a:p>
                      <a:pPr>
                        <a:defRPr sz="1050">
                          <a:solidFill>
                            <a:srgbClr val="2D353D"/>
                          </a:solidFill>
                        </a:defRPr>
                      </a:pPr>
                      <a:r>
                        <a:t>Baseline Random Forest</a:t>
                      </a:r>
                    </a:p>
                  </a:txBody>
                  <a:tcPr>
                    <a:solidFill>
                      <a:srgbClr val="FFFFFF"/>
                    </a:solidFill>
                  </a:tcPr>
                </a:tc>
                <a:tc>
                  <a:txBody>
                    <a:bodyPr/>
                    <a:lstStyle/>
                    <a:p>
                      <a:pPr>
                        <a:defRPr sz="1050">
                          <a:solidFill>
                            <a:srgbClr val="2D353D"/>
                          </a:solidFill>
                        </a:defRPr>
                      </a:pPr>
                      <a:r>
                        <a:t>90.0%</a:t>
                      </a:r>
                    </a:p>
                  </a:txBody>
                  <a:tcPr>
                    <a:solidFill>
                      <a:srgbClr val="FFFFFF"/>
                    </a:solidFill>
                  </a:tcPr>
                </a:tc>
                <a:tc>
                  <a:txBody>
                    <a:bodyPr/>
                    <a:lstStyle/>
                    <a:p>
                      <a:pPr>
                        <a:defRPr sz="1050">
                          <a:solidFill>
                            <a:srgbClr val="2D353D"/>
                          </a:solidFill>
                        </a:defRPr>
                      </a:pPr>
                      <a:r>
                        <a:t>76.6%</a:t>
                      </a:r>
                    </a:p>
                  </a:txBody>
                  <a:tcPr>
                    <a:solidFill>
                      <a:srgbClr val="FFFFFF"/>
                    </a:solidFill>
                  </a:tcPr>
                </a:tc>
                <a:tc>
                  <a:txBody>
                    <a:bodyPr/>
                    <a:lstStyle/>
                    <a:p>
                      <a:pPr>
                        <a:defRPr sz="1050">
                          <a:solidFill>
                            <a:srgbClr val="2D353D"/>
                          </a:solidFill>
                        </a:defRPr>
                      </a:pPr>
                      <a:r>
                        <a:t>51.3%</a:t>
                      </a:r>
                    </a:p>
                  </a:txBody>
                  <a:tcPr>
                    <a:solidFill>
                      <a:srgbClr val="FFFFFF"/>
                    </a:solidFill>
                  </a:tcPr>
                </a:tc>
                <a:tc>
                  <a:txBody>
                    <a:bodyPr/>
                    <a:lstStyle/>
                    <a:p>
                      <a:pPr>
                        <a:defRPr sz="1050">
                          <a:solidFill>
                            <a:srgbClr val="2D353D"/>
                          </a:solidFill>
                        </a:defRPr>
                      </a:pPr>
                      <a:r>
                        <a:t>0.614</a:t>
                      </a:r>
                    </a:p>
                  </a:txBody>
                  <a:tcPr>
                    <a:solidFill>
                      <a:srgbClr val="FFFFFF"/>
                    </a:solidFill>
                  </a:tcPr>
                </a:tc>
                <a:tc>
                  <a:txBody>
                    <a:bodyPr/>
                    <a:lstStyle/>
                    <a:p>
                      <a:pPr>
                        <a:defRPr sz="1050">
                          <a:solidFill>
                            <a:srgbClr val="2D353D"/>
                          </a:solidFill>
                        </a:defRPr>
                      </a:pPr>
                      <a:r>
                        <a:t>0.918</a:t>
                      </a:r>
                    </a:p>
                  </a:txBody>
                  <a:tcPr>
                    <a:solidFill>
                      <a:srgbClr val="FFFFFF"/>
                    </a:solidFill>
                  </a:tcPr>
                </a:tc>
                <a:extLst>
                  <a:ext uri="{0D108BD9-81ED-4DB2-BD59-A6C34878D82A}">
                    <a16:rowId xmlns:a16="http://schemas.microsoft.com/office/drawing/2014/main" val="10002"/>
                  </a:ext>
                </a:extLst>
              </a:tr>
              <a:tr h="556260">
                <a:tc>
                  <a:txBody>
                    <a:bodyPr/>
                    <a:lstStyle/>
                    <a:p>
                      <a:pPr>
                        <a:defRPr sz="1050" b="1">
                          <a:solidFill>
                            <a:srgbClr val="2D353D"/>
                          </a:solidFill>
                        </a:defRPr>
                      </a:pPr>
                      <a:r>
                        <a:t>Tuned Random Forest</a:t>
                      </a:r>
                    </a:p>
                  </a:txBody>
                  <a:tcPr>
                    <a:solidFill>
                      <a:srgbClr val="E4F4F2"/>
                    </a:solidFill>
                  </a:tcPr>
                </a:tc>
                <a:tc>
                  <a:txBody>
                    <a:bodyPr/>
                    <a:lstStyle/>
                    <a:p>
                      <a:pPr>
                        <a:defRPr sz="1050" b="1">
                          <a:solidFill>
                            <a:srgbClr val="2D353D"/>
                          </a:solidFill>
                        </a:defRPr>
                      </a:pPr>
                      <a:r>
                        <a:t>89.3%</a:t>
                      </a:r>
                    </a:p>
                  </a:txBody>
                  <a:tcPr>
                    <a:solidFill>
                      <a:srgbClr val="E4F4F2"/>
                    </a:solidFill>
                  </a:tcPr>
                </a:tc>
                <a:tc>
                  <a:txBody>
                    <a:bodyPr/>
                    <a:lstStyle/>
                    <a:p>
                      <a:pPr>
                        <a:defRPr sz="1050" b="1">
                          <a:solidFill>
                            <a:srgbClr val="2D353D"/>
                          </a:solidFill>
                        </a:defRPr>
                      </a:pPr>
                      <a:r>
                        <a:t>64.4%</a:t>
                      </a:r>
                    </a:p>
                  </a:txBody>
                  <a:tcPr>
                    <a:solidFill>
                      <a:srgbClr val="E4F4F2"/>
                    </a:solidFill>
                  </a:tcPr>
                </a:tc>
                <a:tc>
                  <a:txBody>
                    <a:bodyPr/>
                    <a:lstStyle/>
                    <a:p>
                      <a:pPr>
                        <a:defRPr sz="1050" b="1">
                          <a:solidFill>
                            <a:srgbClr val="2D353D"/>
                          </a:solidFill>
                        </a:defRPr>
                      </a:pPr>
                      <a:r>
                        <a:t>68.3%</a:t>
                      </a:r>
                    </a:p>
                  </a:txBody>
                  <a:tcPr>
                    <a:solidFill>
                      <a:srgbClr val="E4F4F2"/>
                    </a:solidFill>
                  </a:tcPr>
                </a:tc>
                <a:tc>
                  <a:txBody>
                    <a:bodyPr/>
                    <a:lstStyle/>
                    <a:p>
                      <a:pPr>
                        <a:defRPr sz="1050" b="1">
                          <a:solidFill>
                            <a:srgbClr val="2D353D"/>
                          </a:solidFill>
                        </a:defRPr>
                      </a:pPr>
                      <a:r>
                        <a:t>0.663</a:t>
                      </a:r>
                    </a:p>
                  </a:txBody>
                  <a:tcPr>
                    <a:solidFill>
                      <a:srgbClr val="E4F4F2"/>
                    </a:solidFill>
                  </a:tcPr>
                </a:tc>
                <a:tc>
                  <a:txBody>
                    <a:bodyPr/>
                    <a:lstStyle/>
                    <a:p>
                      <a:pPr>
                        <a:defRPr sz="1050" b="1">
                          <a:solidFill>
                            <a:srgbClr val="2D353D"/>
                          </a:solidFill>
                        </a:defRPr>
                      </a:pPr>
                      <a:r>
                        <a:t>0.923</a:t>
                      </a:r>
                    </a:p>
                  </a:txBody>
                  <a:tcPr>
                    <a:solidFill>
                      <a:srgbClr val="E4F4F2"/>
                    </a:solidFill>
                  </a:tcPr>
                </a:tc>
                <a:extLst>
                  <a:ext uri="{0D108BD9-81ED-4DB2-BD59-A6C34878D82A}">
                    <a16:rowId xmlns:a16="http://schemas.microsoft.com/office/drawing/2014/main" val="10003"/>
                  </a:ext>
                </a:extLst>
              </a:tr>
              <a:tr h="556260">
                <a:tc>
                  <a:txBody>
                    <a:bodyPr/>
                    <a:lstStyle/>
                    <a:p>
                      <a:pPr>
                        <a:defRPr sz="1050">
                          <a:solidFill>
                            <a:srgbClr val="2D353D"/>
                          </a:solidFill>
                        </a:defRPr>
                      </a:pPr>
                      <a:r>
                        <a:t>Initial DNN</a:t>
                      </a:r>
                    </a:p>
                  </a:txBody>
                  <a:tcPr>
                    <a:solidFill>
                      <a:srgbClr val="FFFFFF"/>
                    </a:solidFill>
                  </a:tcPr>
                </a:tc>
                <a:tc>
                  <a:txBody>
                    <a:bodyPr/>
                    <a:lstStyle/>
                    <a:p>
                      <a:pPr>
                        <a:defRPr sz="1050">
                          <a:solidFill>
                            <a:srgbClr val="2D353D"/>
                          </a:solidFill>
                        </a:defRPr>
                      </a:pPr>
                      <a:r>
                        <a:t>89.3%</a:t>
                      </a:r>
                    </a:p>
                  </a:txBody>
                  <a:tcPr>
                    <a:solidFill>
                      <a:srgbClr val="FFFFFF"/>
                    </a:solidFill>
                  </a:tcPr>
                </a:tc>
                <a:tc>
                  <a:txBody>
                    <a:bodyPr/>
                    <a:lstStyle/>
                    <a:p>
                      <a:pPr>
                        <a:defRPr sz="1050">
                          <a:solidFill>
                            <a:srgbClr val="2D353D"/>
                          </a:solidFill>
                        </a:defRPr>
                      </a:pPr>
                      <a:r>
                        <a:t>69.6%</a:t>
                      </a:r>
                    </a:p>
                  </a:txBody>
                  <a:tcPr>
                    <a:solidFill>
                      <a:srgbClr val="FFFFFF"/>
                    </a:solidFill>
                  </a:tcPr>
                </a:tc>
                <a:tc>
                  <a:txBody>
                    <a:bodyPr/>
                    <a:lstStyle/>
                    <a:p>
                      <a:pPr>
                        <a:defRPr sz="1050">
                          <a:solidFill>
                            <a:srgbClr val="2D353D"/>
                          </a:solidFill>
                        </a:defRPr>
                      </a:pPr>
                      <a:r>
                        <a:t>55.2%</a:t>
                      </a:r>
                    </a:p>
                  </a:txBody>
                  <a:tcPr>
                    <a:solidFill>
                      <a:srgbClr val="FFFFFF"/>
                    </a:solidFill>
                  </a:tcPr>
                </a:tc>
                <a:tc>
                  <a:txBody>
                    <a:bodyPr/>
                    <a:lstStyle/>
                    <a:p>
                      <a:pPr>
                        <a:defRPr sz="1050">
                          <a:solidFill>
                            <a:srgbClr val="2D353D"/>
                          </a:solidFill>
                        </a:defRPr>
                      </a:pPr>
                      <a:r>
                        <a:t>0.616</a:t>
                      </a:r>
                    </a:p>
                  </a:txBody>
                  <a:tcPr>
                    <a:solidFill>
                      <a:srgbClr val="FFFFFF"/>
                    </a:solidFill>
                  </a:tcPr>
                </a:tc>
                <a:tc>
                  <a:txBody>
                    <a:bodyPr/>
                    <a:lstStyle/>
                    <a:p>
                      <a:pPr>
                        <a:defRPr sz="1050">
                          <a:solidFill>
                            <a:srgbClr val="2D353D"/>
                          </a:solidFill>
                        </a:defRPr>
                      </a:pPr>
                      <a:r>
                        <a:t>0.911</a:t>
                      </a:r>
                    </a:p>
                  </a:txBody>
                  <a:tcPr>
                    <a:solidFill>
                      <a:srgbClr val="FFFFFF"/>
                    </a:solidFill>
                  </a:tcPr>
                </a:tc>
                <a:extLst>
                  <a:ext uri="{0D108BD9-81ED-4DB2-BD59-A6C34878D82A}">
                    <a16:rowId xmlns:a16="http://schemas.microsoft.com/office/drawing/2014/main" val="10004"/>
                  </a:ext>
                </a:extLst>
              </a:tr>
              <a:tr h="556260">
                <a:tc>
                  <a:txBody>
                    <a:bodyPr/>
                    <a:lstStyle/>
                    <a:p>
                      <a:pPr>
                        <a:defRPr sz="1050">
                          <a:solidFill>
                            <a:srgbClr val="2D353D"/>
                          </a:solidFill>
                        </a:defRPr>
                      </a:pPr>
                      <a:r>
                        <a:t>Tuned DNN</a:t>
                      </a:r>
                    </a:p>
                  </a:txBody>
                  <a:tcPr>
                    <a:solidFill>
                      <a:srgbClr val="FFFFFF"/>
                    </a:solidFill>
                  </a:tcPr>
                </a:tc>
                <a:tc>
                  <a:txBody>
                    <a:bodyPr/>
                    <a:lstStyle/>
                    <a:p>
                      <a:pPr>
                        <a:defRPr sz="1050">
                          <a:solidFill>
                            <a:srgbClr val="2D353D"/>
                          </a:solidFill>
                        </a:defRPr>
                      </a:pPr>
                      <a:r>
                        <a:t>89.5%</a:t>
                      </a:r>
                    </a:p>
                  </a:txBody>
                  <a:tcPr>
                    <a:solidFill>
                      <a:srgbClr val="FFFFFF"/>
                    </a:solidFill>
                  </a:tcPr>
                </a:tc>
                <a:tc>
                  <a:txBody>
                    <a:bodyPr/>
                    <a:lstStyle/>
                    <a:p>
                      <a:pPr>
                        <a:defRPr sz="1050">
                          <a:solidFill>
                            <a:srgbClr val="2D353D"/>
                          </a:solidFill>
                        </a:defRPr>
                      </a:pPr>
                      <a:r>
                        <a:t>70.9%</a:t>
                      </a:r>
                    </a:p>
                  </a:txBody>
                  <a:tcPr>
                    <a:solidFill>
                      <a:srgbClr val="FFFFFF"/>
                    </a:solidFill>
                  </a:tcPr>
                </a:tc>
                <a:tc>
                  <a:txBody>
                    <a:bodyPr/>
                    <a:lstStyle/>
                    <a:p>
                      <a:pPr>
                        <a:defRPr sz="1050">
                          <a:solidFill>
                            <a:srgbClr val="2D353D"/>
                          </a:solidFill>
                        </a:defRPr>
                      </a:pPr>
                      <a:r>
                        <a:t>54.2%</a:t>
                      </a:r>
                    </a:p>
                  </a:txBody>
                  <a:tcPr>
                    <a:solidFill>
                      <a:srgbClr val="FFFFFF"/>
                    </a:solidFill>
                  </a:tcPr>
                </a:tc>
                <a:tc>
                  <a:txBody>
                    <a:bodyPr/>
                    <a:lstStyle/>
                    <a:p>
                      <a:pPr>
                        <a:defRPr sz="1050">
                          <a:solidFill>
                            <a:srgbClr val="2D353D"/>
                          </a:solidFill>
                        </a:defRPr>
                      </a:pPr>
                      <a:r>
                        <a:t>0.614</a:t>
                      </a:r>
                    </a:p>
                  </a:txBody>
                  <a:tcPr>
                    <a:solidFill>
                      <a:srgbClr val="FFFFFF"/>
                    </a:solidFill>
                  </a:tcPr>
                </a:tc>
                <a:tc>
                  <a:txBody>
                    <a:bodyPr/>
                    <a:lstStyle/>
                    <a:p>
                      <a:pPr>
                        <a:defRPr sz="1050">
                          <a:solidFill>
                            <a:srgbClr val="2D353D"/>
                          </a:solidFill>
                        </a:defRPr>
                      </a:pPr>
                      <a:r>
                        <a:t>0.912</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85800" y="5806440"/>
            <a:ext cx="10789920" cy="411480"/>
          </a:xfrm>
          <a:prstGeom prst="rect">
            <a:avLst/>
          </a:prstGeom>
          <a:noFill/>
        </p:spPr>
        <p:txBody>
          <a:bodyPr wrap="square" lIns="45720" rIns="45720" anchor="t">
            <a:spAutoFit/>
          </a:bodyPr>
          <a:lstStyle/>
          <a:p>
            <a:pPr algn="ctr">
              <a:defRPr sz="1700" b="1">
                <a:solidFill>
                  <a:srgbClr val="1E8486"/>
                </a:solidFill>
                <a:latin typeface="Aptos"/>
              </a:defRPr>
            </a:pPr>
            <a:r>
              <a:t>Best recall + best F1-score + best ROC-AUC → selected as the final model.</a:t>
            </a:r>
          </a:p>
        </p:txBody>
      </p:sp>
      <p:sp>
        <p:nvSpPr>
          <p:cNvPr id="7" name="TextBox 6"/>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a:t>FINAL MODEL SELECTION</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Why the Tuned Random Forest was selected</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240280"/>
            <a:ext cx="324612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423160"/>
            <a:ext cx="2843784" cy="502920"/>
          </a:xfrm>
          <a:prstGeom prst="rect">
            <a:avLst/>
          </a:prstGeom>
          <a:noFill/>
        </p:spPr>
        <p:txBody>
          <a:bodyPr wrap="square" lIns="45720" rIns="45720" anchor="t">
            <a:spAutoFit/>
          </a:bodyPr>
          <a:lstStyle/>
          <a:p>
            <a:pPr algn="l">
              <a:defRPr sz="2500" b="1">
                <a:solidFill>
                  <a:srgbClr val="1E8486"/>
                </a:solidFill>
                <a:latin typeface="Aptos"/>
              </a:defRPr>
            </a:pPr>
            <a:r>
              <a:t>68.3%</a:t>
            </a:r>
          </a:p>
        </p:txBody>
      </p:sp>
      <p:sp>
        <p:nvSpPr>
          <p:cNvPr id="7" name="TextBox 6"/>
          <p:cNvSpPr txBox="1"/>
          <p:nvPr/>
        </p:nvSpPr>
        <p:spPr>
          <a:xfrm>
            <a:off x="886968" y="2990088"/>
            <a:ext cx="2843784" cy="411480"/>
          </a:xfrm>
          <a:prstGeom prst="rect">
            <a:avLst/>
          </a:prstGeom>
          <a:noFill/>
        </p:spPr>
        <p:txBody>
          <a:bodyPr wrap="square" lIns="45720" rIns="45720" anchor="t">
            <a:spAutoFit/>
          </a:bodyPr>
          <a:lstStyle/>
          <a:p>
            <a:pPr algn="l">
              <a:defRPr sz="1100" b="1">
                <a:solidFill>
                  <a:srgbClr val="2D353D"/>
                </a:solidFill>
                <a:latin typeface="Aptos"/>
              </a:defRPr>
            </a:pPr>
            <a:r>
              <a:t>Highest recall for purchases</a:t>
            </a:r>
          </a:p>
        </p:txBody>
      </p:sp>
      <p:sp>
        <p:nvSpPr>
          <p:cNvPr id="8" name="Rounded Rectangle 7"/>
          <p:cNvSpPr/>
          <p:nvPr/>
        </p:nvSpPr>
        <p:spPr>
          <a:xfrm>
            <a:off x="4480560" y="2240280"/>
            <a:ext cx="324612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81728" y="2423160"/>
            <a:ext cx="2843784" cy="502920"/>
          </a:xfrm>
          <a:prstGeom prst="rect">
            <a:avLst/>
          </a:prstGeom>
          <a:noFill/>
        </p:spPr>
        <p:txBody>
          <a:bodyPr wrap="square" lIns="45720" rIns="45720" anchor="t">
            <a:spAutoFit/>
          </a:bodyPr>
          <a:lstStyle/>
          <a:p>
            <a:pPr algn="l">
              <a:defRPr sz="2500" b="1">
                <a:solidFill>
                  <a:srgbClr val="EE765C"/>
                </a:solidFill>
                <a:latin typeface="Aptos"/>
              </a:defRPr>
            </a:pPr>
            <a:r>
              <a:t>0.663</a:t>
            </a:r>
          </a:p>
        </p:txBody>
      </p:sp>
      <p:sp>
        <p:nvSpPr>
          <p:cNvPr id="10" name="TextBox 9"/>
          <p:cNvSpPr txBox="1"/>
          <p:nvPr/>
        </p:nvSpPr>
        <p:spPr>
          <a:xfrm>
            <a:off x="4681728" y="2990088"/>
            <a:ext cx="2843784" cy="411480"/>
          </a:xfrm>
          <a:prstGeom prst="rect">
            <a:avLst/>
          </a:prstGeom>
          <a:noFill/>
        </p:spPr>
        <p:txBody>
          <a:bodyPr wrap="square" lIns="45720" rIns="45720" anchor="t">
            <a:spAutoFit/>
          </a:bodyPr>
          <a:lstStyle/>
          <a:p>
            <a:pPr algn="l">
              <a:defRPr sz="1100" b="1">
                <a:solidFill>
                  <a:srgbClr val="2D353D"/>
                </a:solidFill>
                <a:latin typeface="Aptos"/>
              </a:defRPr>
            </a:pPr>
            <a:r>
              <a:t>Highest F1-score</a:t>
            </a:r>
          </a:p>
        </p:txBody>
      </p:sp>
      <p:sp>
        <p:nvSpPr>
          <p:cNvPr id="11" name="Rounded Rectangle 10"/>
          <p:cNvSpPr/>
          <p:nvPr/>
        </p:nvSpPr>
        <p:spPr>
          <a:xfrm>
            <a:off x="8275320" y="2240280"/>
            <a:ext cx="3246120" cy="160020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76488" y="2423160"/>
            <a:ext cx="2843784" cy="502920"/>
          </a:xfrm>
          <a:prstGeom prst="rect">
            <a:avLst/>
          </a:prstGeom>
          <a:noFill/>
        </p:spPr>
        <p:txBody>
          <a:bodyPr wrap="square" lIns="45720" rIns="45720" anchor="t">
            <a:spAutoFit/>
          </a:bodyPr>
          <a:lstStyle/>
          <a:p>
            <a:pPr algn="l">
              <a:defRPr sz="2500" b="1">
                <a:solidFill>
                  <a:srgbClr val="E0B154"/>
                </a:solidFill>
                <a:latin typeface="Aptos"/>
              </a:defRPr>
            </a:pPr>
            <a:r>
              <a:t>0.923</a:t>
            </a:r>
          </a:p>
        </p:txBody>
      </p:sp>
      <p:sp>
        <p:nvSpPr>
          <p:cNvPr id="13" name="TextBox 12"/>
          <p:cNvSpPr txBox="1"/>
          <p:nvPr/>
        </p:nvSpPr>
        <p:spPr>
          <a:xfrm>
            <a:off x="8476488" y="2990088"/>
            <a:ext cx="2843784" cy="411480"/>
          </a:xfrm>
          <a:prstGeom prst="rect">
            <a:avLst/>
          </a:prstGeom>
          <a:noFill/>
        </p:spPr>
        <p:txBody>
          <a:bodyPr wrap="square" lIns="45720" rIns="45720" anchor="t">
            <a:spAutoFit/>
          </a:bodyPr>
          <a:lstStyle/>
          <a:p>
            <a:pPr algn="l">
              <a:defRPr sz="1100" b="1">
                <a:solidFill>
                  <a:srgbClr val="2D353D"/>
                </a:solidFill>
                <a:latin typeface="Aptos"/>
              </a:defRPr>
            </a:pPr>
            <a:r>
              <a:t>Highest ROC-AUC</a:t>
            </a:r>
          </a:p>
        </p:txBody>
      </p:sp>
      <p:sp>
        <p:nvSpPr>
          <p:cNvPr id="14" name="TextBox 13"/>
          <p:cNvSpPr txBox="1"/>
          <p:nvPr/>
        </p:nvSpPr>
        <p:spPr>
          <a:xfrm>
            <a:off x="822960" y="4617720"/>
            <a:ext cx="10515600" cy="868680"/>
          </a:xfrm>
          <a:prstGeom prst="rect">
            <a:avLst/>
          </a:prstGeom>
          <a:noFill/>
        </p:spPr>
        <p:txBody>
          <a:bodyPr wrap="square" lIns="45720" rIns="45720" anchor="t">
            <a:spAutoFit/>
          </a:bodyPr>
          <a:lstStyle/>
          <a:p>
            <a:pPr algn="ctr">
              <a:defRPr sz="1800" b="0">
                <a:solidFill>
                  <a:srgbClr val="2D353D"/>
                </a:solidFill>
                <a:latin typeface="Aptos"/>
              </a:defRPr>
            </a:pPr>
            <a:r>
              <a:rPr dirty="0"/>
              <a:t>The baseline Random Forest was slightly more accurate and precise, but the tuned model identified substantially more of the sessions that actually resulted in a purchase. Given the project objective, this was the more useful trade-off.</a:t>
            </a:r>
          </a:p>
        </p:txBody>
      </p:sp>
      <p:sp>
        <p:nvSpPr>
          <p:cNvPr id="15" name="TextBox 1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FINAL MODEL INTERPRETATION</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Website engagement dominated the model's predictions</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57400"/>
            <a:ext cx="2926079" cy="228600"/>
          </a:xfrm>
          <a:prstGeom prst="rect">
            <a:avLst/>
          </a:prstGeom>
          <a:noFill/>
        </p:spPr>
        <p:txBody>
          <a:bodyPr wrap="square" lIns="45720" rIns="45720" anchor="t">
            <a:spAutoFit/>
          </a:bodyPr>
          <a:lstStyle/>
          <a:p>
            <a:pPr algn="l">
              <a:defRPr sz="1000" b="1">
                <a:solidFill>
                  <a:srgbClr val="2D353D"/>
                </a:solidFill>
                <a:latin typeface="Aptos"/>
              </a:defRPr>
            </a:pPr>
            <a:r>
              <a:t>PageValues</a:t>
            </a:r>
          </a:p>
        </p:txBody>
      </p:sp>
      <p:sp>
        <p:nvSpPr>
          <p:cNvPr id="6" name="Rounded Rectangle 5"/>
          <p:cNvSpPr/>
          <p:nvPr/>
        </p:nvSpPr>
        <p:spPr>
          <a:xfrm>
            <a:off x="3703320" y="2084831"/>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703320" y="2084831"/>
            <a:ext cx="5829300" cy="164592"/>
          </a:xfrm>
          <a:prstGeom prst="round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95560" y="2039112"/>
            <a:ext cx="548640" cy="228600"/>
          </a:xfrm>
          <a:prstGeom prst="rect">
            <a:avLst/>
          </a:prstGeom>
          <a:noFill/>
        </p:spPr>
        <p:txBody>
          <a:bodyPr wrap="square" lIns="45720" rIns="45720" anchor="t">
            <a:spAutoFit/>
          </a:bodyPr>
          <a:lstStyle/>
          <a:p>
            <a:pPr algn="l">
              <a:defRPr sz="900" b="0">
                <a:solidFill>
                  <a:srgbClr val="6A7580"/>
                </a:solidFill>
                <a:latin typeface="Aptos"/>
              </a:defRPr>
            </a:pPr>
            <a:r>
              <a:t>0.375</a:t>
            </a:r>
          </a:p>
        </p:txBody>
      </p:sp>
      <p:sp>
        <p:nvSpPr>
          <p:cNvPr id="9" name="TextBox 8"/>
          <p:cNvSpPr txBox="1"/>
          <p:nvPr/>
        </p:nvSpPr>
        <p:spPr>
          <a:xfrm>
            <a:off x="777240" y="2404872"/>
            <a:ext cx="2926079" cy="228600"/>
          </a:xfrm>
          <a:prstGeom prst="rect">
            <a:avLst/>
          </a:prstGeom>
          <a:noFill/>
        </p:spPr>
        <p:txBody>
          <a:bodyPr wrap="square" lIns="45720" rIns="45720" anchor="t">
            <a:spAutoFit/>
          </a:bodyPr>
          <a:lstStyle/>
          <a:p>
            <a:pPr algn="l">
              <a:defRPr sz="1000" b="0">
                <a:solidFill>
                  <a:srgbClr val="2D353D"/>
                </a:solidFill>
                <a:latin typeface="Aptos"/>
              </a:defRPr>
            </a:pPr>
            <a:r>
              <a:t>ExitRates</a:t>
            </a:r>
          </a:p>
        </p:txBody>
      </p:sp>
      <p:sp>
        <p:nvSpPr>
          <p:cNvPr id="10" name="Rounded Rectangle 9"/>
          <p:cNvSpPr/>
          <p:nvPr/>
        </p:nvSpPr>
        <p:spPr>
          <a:xfrm>
            <a:off x="3703320" y="2432303"/>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03320" y="2432303"/>
            <a:ext cx="1601114" cy="164592"/>
          </a:xfrm>
          <a:prstGeom prst="round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95560" y="2386584"/>
            <a:ext cx="548640" cy="228600"/>
          </a:xfrm>
          <a:prstGeom prst="rect">
            <a:avLst/>
          </a:prstGeom>
          <a:noFill/>
        </p:spPr>
        <p:txBody>
          <a:bodyPr wrap="square" lIns="45720" rIns="45720" anchor="t">
            <a:spAutoFit/>
          </a:bodyPr>
          <a:lstStyle/>
          <a:p>
            <a:pPr algn="l">
              <a:defRPr sz="900" b="0">
                <a:solidFill>
                  <a:srgbClr val="6A7580"/>
                </a:solidFill>
                <a:latin typeface="Aptos"/>
              </a:defRPr>
            </a:pPr>
            <a:r>
              <a:t>0.103</a:t>
            </a:r>
          </a:p>
        </p:txBody>
      </p:sp>
      <p:sp>
        <p:nvSpPr>
          <p:cNvPr id="13" name="TextBox 12"/>
          <p:cNvSpPr txBox="1"/>
          <p:nvPr/>
        </p:nvSpPr>
        <p:spPr>
          <a:xfrm>
            <a:off x="777240" y="2752344"/>
            <a:ext cx="2926079" cy="228600"/>
          </a:xfrm>
          <a:prstGeom prst="rect">
            <a:avLst/>
          </a:prstGeom>
          <a:noFill/>
        </p:spPr>
        <p:txBody>
          <a:bodyPr wrap="square" lIns="45720" rIns="45720" anchor="t">
            <a:spAutoFit/>
          </a:bodyPr>
          <a:lstStyle/>
          <a:p>
            <a:pPr algn="l">
              <a:defRPr sz="1000" b="0">
                <a:solidFill>
                  <a:srgbClr val="2D353D"/>
                </a:solidFill>
                <a:latin typeface="Aptos"/>
              </a:defRPr>
            </a:pPr>
            <a:r>
              <a:t>ProductRelated_Duration</a:t>
            </a:r>
          </a:p>
        </p:txBody>
      </p:sp>
      <p:sp>
        <p:nvSpPr>
          <p:cNvPr id="14" name="Rounded Rectangle 13"/>
          <p:cNvSpPr/>
          <p:nvPr/>
        </p:nvSpPr>
        <p:spPr>
          <a:xfrm>
            <a:off x="3703320" y="2779775"/>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03320" y="2779775"/>
            <a:ext cx="1196949" cy="164592"/>
          </a:xfrm>
          <a:prstGeom prst="round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95560" y="2734056"/>
            <a:ext cx="548640" cy="228600"/>
          </a:xfrm>
          <a:prstGeom prst="rect">
            <a:avLst/>
          </a:prstGeom>
          <a:noFill/>
        </p:spPr>
        <p:txBody>
          <a:bodyPr wrap="square" lIns="45720" rIns="45720" anchor="t">
            <a:spAutoFit/>
          </a:bodyPr>
          <a:lstStyle/>
          <a:p>
            <a:pPr algn="l">
              <a:defRPr sz="900" b="0">
                <a:solidFill>
                  <a:srgbClr val="6A7580"/>
                </a:solidFill>
                <a:latin typeface="Aptos"/>
              </a:defRPr>
            </a:pPr>
            <a:r>
              <a:t>0.077</a:t>
            </a:r>
          </a:p>
        </p:txBody>
      </p:sp>
      <p:sp>
        <p:nvSpPr>
          <p:cNvPr id="17" name="TextBox 16"/>
          <p:cNvSpPr txBox="1"/>
          <p:nvPr/>
        </p:nvSpPr>
        <p:spPr>
          <a:xfrm>
            <a:off x="777240" y="3099816"/>
            <a:ext cx="2926079" cy="228600"/>
          </a:xfrm>
          <a:prstGeom prst="rect">
            <a:avLst/>
          </a:prstGeom>
          <a:noFill/>
        </p:spPr>
        <p:txBody>
          <a:bodyPr wrap="square" lIns="45720" rIns="45720" anchor="t">
            <a:spAutoFit/>
          </a:bodyPr>
          <a:lstStyle/>
          <a:p>
            <a:pPr algn="l">
              <a:defRPr sz="1000" b="0">
                <a:solidFill>
                  <a:srgbClr val="2D353D"/>
                </a:solidFill>
                <a:latin typeface="Aptos"/>
              </a:defRPr>
            </a:pPr>
            <a:r>
              <a:t>ProductRelated</a:t>
            </a:r>
          </a:p>
        </p:txBody>
      </p:sp>
      <p:sp>
        <p:nvSpPr>
          <p:cNvPr id="18" name="Rounded Rectangle 17"/>
          <p:cNvSpPr/>
          <p:nvPr/>
        </p:nvSpPr>
        <p:spPr>
          <a:xfrm>
            <a:off x="3703320" y="3127248"/>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703320" y="3127248"/>
            <a:ext cx="948232" cy="164592"/>
          </a:xfrm>
          <a:prstGeom prst="round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95560" y="3081528"/>
            <a:ext cx="548640" cy="228600"/>
          </a:xfrm>
          <a:prstGeom prst="rect">
            <a:avLst/>
          </a:prstGeom>
          <a:noFill/>
        </p:spPr>
        <p:txBody>
          <a:bodyPr wrap="square" lIns="45720" rIns="45720" anchor="t">
            <a:spAutoFit/>
          </a:bodyPr>
          <a:lstStyle/>
          <a:p>
            <a:pPr algn="l">
              <a:defRPr sz="900" b="0">
                <a:solidFill>
                  <a:srgbClr val="6A7580"/>
                </a:solidFill>
                <a:latin typeface="Aptos"/>
              </a:defRPr>
            </a:pPr>
            <a:r>
              <a:t>0.061</a:t>
            </a:r>
          </a:p>
        </p:txBody>
      </p:sp>
      <p:sp>
        <p:nvSpPr>
          <p:cNvPr id="21" name="TextBox 20"/>
          <p:cNvSpPr txBox="1"/>
          <p:nvPr/>
        </p:nvSpPr>
        <p:spPr>
          <a:xfrm>
            <a:off x="777240" y="3447288"/>
            <a:ext cx="2926079" cy="228600"/>
          </a:xfrm>
          <a:prstGeom prst="rect">
            <a:avLst/>
          </a:prstGeom>
          <a:noFill/>
        </p:spPr>
        <p:txBody>
          <a:bodyPr wrap="square" lIns="45720" rIns="45720" anchor="t">
            <a:spAutoFit/>
          </a:bodyPr>
          <a:lstStyle/>
          <a:p>
            <a:pPr algn="l">
              <a:defRPr sz="1000" b="0">
                <a:solidFill>
                  <a:srgbClr val="2D353D"/>
                </a:solidFill>
                <a:latin typeface="Aptos"/>
              </a:defRPr>
            </a:pPr>
            <a:r>
              <a:t>BounceRates</a:t>
            </a:r>
          </a:p>
        </p:txBody>
      </p:sp>
      <p:sp>
        <p:nvSpPr>
          <p:cNvPr id="22" name="Rounded Rectangle 21"/>
          <p:cNvSpPr/>
          <p:nvPr/>
        </p:nvSpPr>
        <p:spPr>
          <a:xfrm>
            <a:off x="3703320" y="3474720"/>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03320" y="3474720"/>
            <a:ext cx="839419" cy="164592"/>
          </a:xfrm>
          <a:prstGeom prst="round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95560" y="3429000"/>
            <a:ext cx="548640" cy="228600"/>
          </a:xfrm>
          <a:prstGeom prst="rect">
            <a:avLst/>
          </a:prstGeom>
          <a:noFill/>
        </p:spPr>
        <p:txBody>
          <a:bodyPr wrap="square" lIns="45720" rIns="45720" anchor="t">
            <a:spAutoFit/>
          </a:bodyPr>
          <a:lstStyle/>
          <a:p>
            <a:pPr algn="l">
              <a:defRPr sz="900" b="0">
                <a:solidFill>
                  <a:srgbClr val="6A7580"/>
                </a:solidFill>
                <a:latin typeface="Aptos"/>
              </a:defRPr>
            </a:pPr>
            <a:r>
              <a:t>0.054</a:t>
            </a:r>
          </a:p>
        </p:txBody>
      </p:sp>
      <p:sp>
        <p:nvSpPr>
          <p:cNvPr id="25" name="TextBox 24"/>
          <p:cNvSpPr txBox="1"/>
          <p:nvPr/>
        </p:nvSpPr>
        <p:spPr>
          <a:xfrm>
            <a:off x="777240" y="3794760"/>
            <a:ext cx="2926079" cy="228600"/>
          </a:xfrm>
          <a:prstGeom prst="rect">
            <a:avLst/>
          </a:prstGeom>
          <a:noFill/>
        </p:spPr>
        <p:txBody>
          <a:bodyPr wrap="square" lIns="45720" rIns="45720" anchor="t">
            <a:spAutoFit/>
          </a:bodyPr>
          <a:lstStyle/>
          <a:p>
            <a:pPr algn="l">
              <a:defRPr sz="1000" b="0">
                <a:solidFill>
                  <a:srgbClr val="2D353D"/>
                </a:solidFill>
                <a:latin typeface="Aptos"/>
              </a:defRPr>
            </a:pPr>
            <a:r>
              <a:t>Administrative_Duration</a:t>
            </a:r>
          </a:p>
        </p:txBody>
      </p:sp>
      <p:sp>
        <p:nvSpPr>
          <p:cNvPr id="26" name="Rounded Rectangle 25"/>
          <p:cNvSpPr/>
          <p:nvPr/>
        </p:nvSpPr>
        <p:spPr>
          <a:xfrm>
            <a:off x="3703320" y="3822192"/>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703320" y="3822192"/>
            <a:ext cx="699515" cy="164592"/>
          </a:xfrm>
          <a:prstGeom prst="round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95560" y="3776472"/>
            <a:ext cx="548640" cy="228600"/>
          </a:xfrm>
          <a:prstGeom prst="rect">
            <a:avLst/>
          </a:prstGeom>
          <a:noFill/>
        </p:spPr>
        <p:txBody>
          <a:bodyPr wrap="square" lIns="45720" rIns="45720" anchor="t">
            <a:spAutoFit/>
          </a:bodyPr>
          <a:lstStyle/>
          <a:p>
            <a:pPr algn="l">
              <a:defRPr sz="900" b="0">
                <a:solidFill>
                  <a:srgbClr val="6A7580"/>
                </a:solidFill>
                <a:latin typeface="Aptos"/>
              </a:defRPr>
            </a:pPr>
            <a:r>
              <a:t>0.045</a:t>
            </a:r>
          </a:p>
        </p:txBody>
      </p:sp>
      <p:sp>
        <p:nvSpPr>
          <p:cNvPr id="29" name="TextBox 28"/>
          <p:cNvSpPr txBox="1"/>
          <p:nvPr/>
        </p:nvSpPr>
        <p:spPr>
          <a:xfrm>
            <a:off x="777240" y="4142232"/>
            <a:ext cx="2926079" cy="228600"/>
          </a:xfrm>
          <a:prstGeom prst="rect">
            <a:avLst/>
          </a:prstGeom>
          <a:noFill/>
        </p:spPr>
        <p:txBody>
          <a:bodyPr wrap="square" lIns="45720" rIns="45720" anchor="t">
            <a:spAutoFit/>
          </a:bodyPr>
          <a:lstStyle/>
          <a:p>
            <a:pPr algn="l">
              <a:defRPr sz="1000" b="0">
                <a:solidFill>
                  <a:srgbClr val="2D353D"/>
                </a:solidFill>
                <a:latin typeface="Aptos"/>
              </a:defRPr>
            </a:pPr>
            <a:r>
              <a:t>Administrative</a:t>
            </a:r>
          </a:p>
        </p:txBody>
      </p:sp>
      <p:sp>
        <p:nvSpPr>
          <p:cNvPr id="30" name="Rounded Rectangle 29"/>
          <p:cNvSpPr/>
          <p:nvPr/>
        </p:nvSpPr>
        <p:spPr>
          <a:xfrm>
            <a:off x="3703320" y="4169664"/>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703320" y="4169664"/>
            <a:ext cx="637336" cy="164592"/>
          </a:xfrm>
          <a:prstGeom prst="round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195560" y="4123944"/>
            <a:ext cx="548640" cy="228600"/>
          </a:xfrm>
          <a:prstGeom prst="rect">
            <a:avLst/>
          </a:prstGeom>
          <a:noFill/>
        </p:spPr>
        <p:txBody>
          <a:bodyPr wrap="square" lIns="45720" rIns="45720" anchor="t">
            <a:spAutoFit/>
          </a:bodyPr>
          <a:lstStyle/>
          <a:p>
            <a:pPr algn="l">
              <a:defRPr sz="900" b="0">
                <a:solidFill>
                  <a:srgbClr val="6A7580"/>
                </a:solidFill>
                <a:latin typeface="Aptos"/>
              </a:defRPr>
            </a:pPr>
            <a:r>
              <a:t>0.041</a:t>
            </a:r>
          </a:p>
        </p:txBody>
      </p:sp>
      <p:sp>
        <p:nvSpPr>
          <p:cNvPr id="33" name="TextBox 32"/>
          <p:cNvSpPr txBox="1"/>
          <p:nvPr/>
        </p:nvSpPr>
        <p:spPr>
          <a:xfrm>
            <a:off x="777240" y="4489704"/>
            <a:ext cx="2926079" cy="228600"/>
          </a:xfrm>
          <a:prstGeom prst="rect">
            <a:avLst/>
          </a:prstGeom>
          <a:noFill/>
        </p:spPr>
        <p:txBody>
          <a:bodyPr wrap="square" lIns="45720" rIns="45720" anchor="t">
            <a:spAutoFit/>
          </a:bodyPr>
          <a:lstStyle/>
          <a:p>
            <a:pPr algn="l">
              <a:defRPr sz="1000" b="0">
                <a:solidFill>
                  <a:srgbClr val="2D353D"/>
                </a:solidFill>
                <a:latin typeface="Aptos"/>
              </a:defRPr>
            </a:pPr>
            <a:r>
              <a:t>Month_Nov</a:t>
            </a:r>
          </a:p>
        </p:txBody>
      </p:sp>
      <p:sp>
        <p:nvSpPr>
          <p:cNvPr id="34" name="Rounded Rectangle 33"/>
          <p:cNvSpPr/>
          <p:nvPr/>
        </p:nvSpPr>
        <p:spPr>
          <a:xfrm>
            <a:off x="3703320" y="4517136"/>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703320" y="4517136"/>
            <a:ext cx="404164" cy="164592"/>
          </a:xfrm>
          <a:prstGeom prst="round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95560" y="4471416"/>
            <a:ext cx="548640" cy="228600"/>
          </a:xfrm>
          <a:prstGeom prst="rect">
            <a:avLst/>
          </a:prstGeom>
          <a:noFill/>
        </p:spPr>
        <p:txBody>
          <a:bodyPr wrap="square" lIns="45720" rIns="45720" anchor="t">
            <a:spAutoFit/>
          </a:bodyPr>
          <a:lstStyle/>
          <a:p>
            <a:pPr algn="l">
              <a:defRPr sz="900" b="0">
                <a:solidFill>
                  <a:srgbClr val="6A7580"/>
                </a:solidFill>
                <a:latin typeface="Aptos"/>
              </a:defRPr>
            </a:pPr>
            <a:r>
              <a:t>0.026</a:t>
            </a:r>
          </a:p>
        </p:txBody>
      </p:sp>
      <p:sp>
        <p:nvSpPr>
          <p:cNvPr id="37" name="TextBox 36"/>
          <p:cNvSpPr txBox="1"/>
          <p:nvPr/>
        </p:nvSpPr>
        <p:spPr>
          <a:xfrm>
            <a:off x="777240" y="4837176"/>
            <a:ext cx="2926079" cy="228600"/>
          </a:xfrm>
          <a:prstGeom prst="rect">
            <a:avLst/>
          </a:prstGeom>
          <a:noFill/>
        </p:spPr>
        <p:txBody>
          <a:bodyPr wrap="square" lIns="45720" rIns="45720" anchor="t">
            <a:spAutoFit/>
          </a:bodyPr>
          <a:lstStyle/>
          <a:p>
            <a:pPr algn="l">
              <a:defRPr sz="1000" b="0">
                <a:solidFill>
                  <a:srgbClr val="2D353D"/>
                </a:solidFill>
                <a:latin typeface="Aptos"/>
              </a:defRPr>
            </a:pPr>
            <a:r>
              <a:t>Informational_Duration</a:t>
            </a:r>
          </a:p>
        </p:txBody>
      </p:sp>
      <p:sp>
        <p:nvSpPr>
          <p:cNvPr id="38" name="Rounded Rectangle 37"/>
          <p:cNvSpPr/>
          <p:nvPr/>
        </p:nvSpPr>
        <p:spPr>
          <a:xfrm>
            <a:off x="3703320" y="4864608"/>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3703320" y="4864608"/>
            <a:ext cx="295351" cy="164592"/>
          </a:xfrm>
          <a:prstGeom prst="round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195560" y="4818888"/>
            <a:ext cx="548640" cy="228600"/>
          </a:xfrm>
          <a:prstGeom prst="rect">
            <a:avLst/>
          </a:prstGeom>
          <a:noFill/>
        </p:spPr>
        <p:txBody>
          <a:bodyPr wrap="square" lIns="45720" rIns="45720" anchor="t">
            <a:spAutoFit/>
          </a:bodyPr>
          <a:lstStyle/>
          <a:p>
            <a:pPr algn="l">
              <a:defRPr sz="900" b="0">
                <a:solidFill>
                  <a:srgbClr val="6A7580"/>
                </a:solidFill>
                <a:latin typeface="Aptos"/>
              </a:defRPr>
            </a:pPr>
            <a:r>
              <a:t>0.019</a:t>
            </a:r>
          </a:p>
        </p:txBody>
      </p:sp>
      <p:sp>
        <p:nvSpPr>
          <p:cNvPr id="41" name="TextBox 40"/>
          <p:cNvSpPr txBox="1"/>
          <p:nvPr/>
        </p:nvSpPr>
        <p:spPr>
          <a:xfrm>
            <a:off x="777240" y="5184648"/>
            <a:ext cx="2926079" cy="228600"/>
          </a:xfrm>
          <a:prstGeom prst="rect">
            <a:avLst/>
          </a:prstGeom>
          <a:noFill/>
        </p:spPr>
        <p:txBody>
          <a:bodyPr wrap="square" lIns="45720" rIns="45720" anchor="t">
            <a:spAutoFit/>
          </a:bodyPr>
          <a:lstStyle/>
          <a:p>
            <a:pPr algn="l">
              <a:defRPr sz="1000" b="0">
                <a:solidFill>
                  <a:srgbClr val="2D353D"/>
                </a:solidFill>
                <a:latin typeface="Aptos"/>
              </a:defRPr>
            </a:pPr>
            <a:r>
              <a:t>Informational</a:t>
            </a:r>
          </a:p>
        </p:txBody>
      </p:sp>
      <p:sp>
        <p:nvSpPr>
          <p:cNvPr id="42" name="Rounded Rectangle 41"/>
          <p:cNvSpPr/>
          <p:nvPr/>
        </p:nvSpPr>
        <p:spPr>
          <a:xfrm>
            <a:off x="3703320" y="5212080"/>
            <a:ext cx="6217920" cy="164592"/>
          </a:xfrm>
          <a:prstGeom prst="roundRect">
            <a:avLst/>
          </a:prstGeom>
          <a:solidFill>
            <a:srgbClr val="E5E9EC"/>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703320" y="5212080"/>
            <a:ext cx="217627" cy="164592"/>
          </a:xfrm>
          <a:prstGeom prst="round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95560" y="5166360"/>
            <a:ext cx="548640" cy="228600"/>
          </a:xfrm>
          <a:prstGeom prst="rect">
            <a:avLst/>
          </a:prstGeom>
          <a:noFill/>
        </p:spPr>
        <p:txBody>
          <a:bodyPr wrap="square" lIns="45720" rIns="45720" anchor="t">
            <a:spAutoFit/>
          </a:bodyPr>
          <a:lstStyle/>
          <a:p>
            <a:pPr algn="l">
              <a:defRPr sz="900" b="0">
                <a:solidFill>
                  <a:srgbClr val="6A7580"/>
                </a:solidFill>
                <a:latin typeface="Aptos"/>
              </a:defRPr>
            </a:pPr>
            <a:r>
              <a:t>0.014</a:t>
            </a:r>
          </a:p>
        </p:txBody>
      </p:sp>
      <p:sp>
        <p:nvSpPr>
          <p:cNvPr id="45" name="TextBox 44"/>
          <p:cNvSpPr txBox="1"/>
          <p:nvPr/>
        </p:nvSpPr>
        <p:spPr>
          <a:xfrm>
            <a:off x="777240" y="5760720"/>
            <a:ext cx="10515600" cy="457200"/>
          </a:xfrm>
          <a:prstGeom prst="rect">
            <a:avLst/>
          </a:prstGeom>
          <a:noFill/>
        </p:spPr>
        <p:txBody>
          <a:bodyPr wrap="square" lIns="45720" rIns="45720" anchor="t">
            <a:spAutoFit/>
          </a:bodyPr>
          <a:lstStyle/>
          <a:p>
            <a:pPr algn="ctr">
              <a:defRPr sz="1500" b="1">
                <a:solidFill>
                  <a:srgbClr val="2D353D"/>
                </a:solidFill>
                <a:latin typeface="Aptos"/>
              </a:defRPr>
            </a:pPr>
            <a:r>
              <a:t>PageValues was by far the strongest feature, followed by exit behavior and product-related engagement.</a:t>
            </a:r>
          </a:p>
        </p:txBody>
      </p:sp>
      <p:sp>
        <p:nvSpPr>
          <p:cNvPr id="46" name="TextBox 45"/>
          <p:cNvSpPr txBox="1"/>
          <p:nvPr/>
        </p:nvSpPr>
        <p:spPr>
          <a:xfrm>
            <a:off x="777240" y="6144768"/>
            <a:ext cx="10515600" cy="320040"/>
          </a:xfrm>
          <a:prstGeom prst="rect">
            <a:avLst/>
          </a:prstGeom>
          <a:noFill/>
        </p:spPr>
        <p:txBody>
          <a:bodyPr wrap="square" lIns="45720" rIns="45720" anchor="t">
            <a:spAutoFit/>
          </a:bodyPr>
          <a:lstStyle/>
          <a:p>
            <a:pPr algn="ctr">
              <a:defRPr sz="1000" b="0">
                <a:solidFill>
                  <a:srgbClr val="6A7580"/>
                </a:solidFill>
                <a:latin typeface="Aptos"/>
              </a:defRPr>
            </a:pPr>
            <a:r>
              <a:t>Feature importance reflects predictive usefulness—not direction of effect or causality.</a:t>
            </a:r>
          </a:p>
        </p:txBody>
      </p:sp>
      <p:sp>
        <p:nvSpPr>
          <p:cNvPr id="47" name="TextBox 46"/>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2338"/>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69C9C4"/>
                </a:solidFill>
                <a:latin typeface="Aptos"/>
              </a:defRPr>
            </a:pPr>
            <a:r>
              <a:rPr sz="1200"/>
              <a:t>BUSINESS IMPLICATIONS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FFFFFF"/>
                </a:solidFill>
                <a:latin typeface="Aptos"/>
              </a:defRPr>
            </a:pPr>
            <a:r>
              <a:t>Potential applications if predictions can be generated early enough</a:t>
            </a:r>
          </a:p>
        </p:txBody>
      </p:sp>
      <p:sp>
        <p:nvSpPr>
          <p:cNvPr id="4" name="Rectangle 3"/>
          <p:cNvSpPr/>
          <p:nvPr/>
        </p:nvSpPr>
        <p:spPr>
          <a:xfrm>
            <a:off x="640080" y="1847088"/>
            <a:ext cx="1005840" cy="45720"/>
          </a:xfrm>
          <a:prstGeom prst="rect">
            <a:avLst/>
          </a:prstGeom>
          <a:solidFill>
            <a:srgbClr val="69C9C4"/>
          </a:solidFill>
          <a:ln>
            <a:solidFill>
              <a:srgbClr val="69C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331720"/>
            <a:ext cx="3246120" cy="2697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697480"/>
            <a:ext cx="2743200" cy="457200"/>
          </a:xfrm>
          <a:prstGeom prst="rect">
            <a:avLst/>
          </a:prstGeom>
          <a:noFill/>
        </p:spPr>
        <p:txBody>
          <a:bodyPr wrap="square" lIns="45720" rIns="45720" anchor="t">
            <a:spAutoFit/>
          </a:bodyPr>
          <a:lstStyle/>
          <a:p>
            <a:pPr algn="l">
              <a:defRPr sz="1700" b="1">
                <a:solidFill>
                  <a:srgbClr val="1E8486"/>
                </a:solidFill>
                <a:latin typeface="Aptos"/>
              </a:defRPr>
            </a:pPr>
            <a:r>
              <a:t>Targeted engagement</a:t>
            </a:r>
          </a:p>
        </p:txBody>
      </p:sp>
      <p:sp>
        <p:nvSpPr>
          <p:cNvPr id="7" name="TextBox 6"/>
          <p:cNvSpPr txBox="1"/>
          <p:nvPr/>
        </p:nvSpPr>
        <p:spPr>
          <a:xfrm>
            <a:off x="914400" y="3456432"/>
            <a:ext cx="2743200" cy="1097280"/>
          </a:xfrm>
          <a:prstGeom prst="rect">
            <a:avLst/>
          </a:prstGeom>
          <a:noFill/>
        </p:spPr>
        <p:txBody>
          <a:bodyPr wrap="square" lIns="45720" rIns="45720" anchor="t">
            <a:spAutoFit/>
          </a:bodyPr>
          <a:lstStyle/>
          <a:p>
            <a:pPr algn="l">
              <a:defRPr sz="1400" b="0">
                <a:solidFill>
                  <a:srgbClr val="2D353D"/>
                </a:solidFill>
                <a:latin typeface="Aptos"/>
              </a:defRPr>
            </a:pPr>
            <a:r>
              <a:t>Prioritize high-intent sessions for personalized offers or recommendations.</a:t>
            </a:r>
          </a:p>
        </p:txBody>
      </p:sp>
      <p:sp>
        <p:nvSpPr>
          <p:cNvPr id="8" name="Rounded Rectangle 7"/>
          <p:cNvSpPr/>
          <p:nvPr/>
        </p:nvSpPr>
        <p:spPr>
          <a:xfrm>
            <a:off x="4434840" y="2331720"/>
            <a:ext cx="3246120" cy="2697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2697480"/>
            <a:ext cx="2743200" cy="457200"/>
          </a:xfrm>
          <a:prstGeom prst="rect">
            <a:avLst/>
          </a:prstGeom>
          <a:noFill/>
        </p:spPr>
        <p:txBody>
          <a:bodyPr wrap="square" lIns="45720" rIns="45720" anchor="t">
            <a:spAutoFit/>
          </a:bodyPr>
          <a:lstStyle/>
          <a:p>
            <a:pPr algn="l">
              <a:defRPr sz="1700" b="1">
                <a:solidFill>
                  <a:srgbClr val="EE765C"/>
                </a:solidFill>
                <a:latin typeface="Aptos"/>
              </a:defRPr>
            </a:pPr>
            <a:r>
              <a:t>UX opportunities</a:t>
            </a:r>
          </a:p>
        </p:txBody>
      </p:sp>
      <p:sp>
        <p:nvSpPr>
          <p:cNvPr id="10" name="TextBox 9"/>
          <p:cNvSpPr txBox="1"/>
          <p:nvPr/>
        </p:nvSpPr>
        <p:spPr>
          <a:xfrm>
            <a:off x="4663440" y="3456432"/>
            <a:ext cx="2743200" cy="1097280"/>
          </a:xfrm>
          <a:prstGeom prst="rect">
            <a:avLst/>
          </a:prstGeom>
          <a:noFill/>
        </p:spPr>
        <p:txBody>
          <a:bodyPr wrap="square" lIns="45720" rIns="45720" anchor="t">
            <a:spAutoFit/>
          </a:bodyPr>
          <a:lstStyle/>
          <a:p>
            <a:pPr algn="l">
              <a:defRPr sz="1400" b="0">
                <a:solidFill>
                  <a:srgbClr val="2D353D"/>
                </a:solidFill>
                <a:latin typeface="Aptos"/>
              </a:defRPr>
            </a:pPr>
            <a:r>
              <a:t>Use exit and engagement patterns to identify points where visitors disengage.</a:t>
            </a:r>
          </a:p>
        </p:txBody>
      </p:sp>
      <p:sp>
        <p:nvSpPr>
          <p:cNvPr id="11" name="Rounded Rectangle 10"/>
          <p:cNvSpPr/>
          <p:nvPr/>
        </p:nvSpPr>
        <p:spPr>
          <a:xfrm>
            <a:off x="8183879" y="2331720"/>
            <a:ext cx="3246120" cy="2697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2697480"/>
            <a:ext cx="2743200" cy="457200"/>
          </a:xfrm>
          <a:prstGeom prst="rect">
            <a:avLst/>
          </a:prstGeom>
          <a:noFill/>
        </p:spPr>
        <p:txBody>
          <a:bodyPr wrap="square" lIns="45720" rIns="45720" anchor="t">
            <a:spAutoFit/>
          </a:bodyPr>
          <a:lstStyle/>
          <a:p>
            <a:pPr algn="l">
              <a:defRPr sz="1700" b="1">
                <a:solidFill>
                  <a:srgbClr val="E0B154"/>
                </a:solidFill>
                <a:latin typeface="Aptos"/>
              </a:defRPr>
            </a:pPr>
            <a:r>
              <a:t>Marketing prioritization</a:t>
            </a:r>
          </a:p>
        </p:txBody>
      </p:sp>
      <p:sp>
        <p:nvSpPr>
          <p:cNvPr id="13" name="TextBox 12"/>
          <p:cNvSpPr txBox="1"/>
          <p:nvPr/>
        </p:nvSpPr>
        <p:spPr>
          <a:xfrm>
            <a:off x="8412480" y="3456432"/>
            <a:ext cx="2743200" cy="1097280"/>
          </a:xfrm>
          <a:prstGeom prst="rect">
            <a:avLst/>
          </a:prstGeom>
          <a:noFill/>
        </p:spPr>
        <p:txBody>
          <a:bodyPr wrap="square" lIns="45720" rIns="45720" anchor="t">
            <a:spAutoFit/>
          </a:bodyPr>
          <a:lstStyle/>
          <a:p>
            <a:pPr algn="l">
              <a:defRPr sz="1400" b="0">
                <a:solidFill>
                  <a:srgbClr val="2D353D"/>
                </a:solidFill>
                <a:latin typeface="Aptos"/>
              </a:defRPr>
            </a:pPr>
            <a:r>
              <a:t>Focus attention on behavioral signals rather than broad visitor labels alone.</a:t>
            </a:r>
          </a:p>
        </p:txBody>
      </p:sp>
      <p:sp>
        <p:nvSpPr>
          <p:cNvPr id="14" name="TextBox 13"/>
          <p:cNvSpPr txBox="1"/>
          <p:nvPr/>
        </p:nvSpPr>
        <p:spPr>
          <a:xfrm>
            <a:off x="777240" y="5532120"/>
            <a:ext cx="10515600" cy="548640"/>
          </a:xfrm>
          <a:prstGeom prst="rect">
            <a:avLst/>
          </a:prstGeom>
          <a:noFill/>
        </p:spPr>
        <p:txBody>
          <a:bodyPr wrap="square" lIns="45720" rIns="45720" anchor="t">
            <a:spAutoFit/>
          </a:bodyPr>
          <a:lstStyle/>
          <a:p>
            <a:pPr algn="ctr">
              <a:defRPr sz="1500" b="0">
                <a:solidFill>
                  <a:srgbClr val="FFFFFF"/>
                </a:solidFill>
                <a:latin typeface="Aptos"/>
              </a:defRPr>
            </a:pPr>
            <a:r>
              <a:t>Key consideration: the operational value of the model depends on when the underlying signals become available during the shopping session.</a:t>
            </a:r>
          </a:p>
        </p:txBody>
      </p:sp>
      <p:sp>
        <p:nvSpPr>
          <p:cNvPr id="15" name="TextBox 1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38912"/>
            <a:ext cx="2743200" cy="320040"/>
          </a:xfrm>
          <a:prstGeom prst="rect">
            <a:avLst/>
          </a:prstGeom>
          <a:noFill/>
        </p:spPr>
        <p:txBody>
          <a:bodyPr wrap="square" anchor="t">
            <a:spAutoFit/>
          </a:bodyPr>
          <a:lstStyle/>
          <a:p>
            <a:pPr algn="l"/>
            <a:r>
              <a:rPr sz="1000" b="1">
                <a:solidFill>
                  <a:srgbClr val="2B8480"/>
                </a:solidFill>
                <a:latin typeface="Aptos"/>
              </a:rPr>
              <a:t>FROM PREDICTION TO ACTION</a:t>
            </a:r>
          </a:p>
        </p:txBody>
      </p:sp>
      <p:sp>
        <p:nvSpPr>
          <p:cNvPr id="3" name="TextBox 2"/>
          <p:cNvSpPr txBox="1"/>
          <p:nvPr/>
        </p:nvSpPr>
        <p:spPr>
          <a:xfrm>
            <a:off x="685800" y="749808"/>
            <a:ext cx="10607040" cy="822960"/>
          </a:xfrm>
          <a:prstGeom prst="rect">
            <a:avLst/>
          </a:prstGeom>
          <a:noFill/>
        </p:spPr>
        <p:txBody>
          <a:bodyPr wrap="square" anchor="t">
            <a:spAutoFit/>
          </a:bodyPr>
          <a:lstStyle/>
          <a:p>
            <a:pPr algn="l"/>
            <a:r>
              <a:rPr sz="2800" b="1">
                <a:solidFill>
                  <a:srgbClr val="233448"/>
                </a:solidFill>
                <a:latin typeface="Aptos"/>
              </a:rPr>
              <a:t>How could a purchase-intent prediction
support a business decision?</a:t>
            </a:r>
          </a:p>
        </p:txBody>
      </p:sp>
      <p:sp>
        <p:nvSpPr>
          <p:cNvPr id="4" name="Rounded Rectangle 3"/>
          <p:cNvSpPr/>
          <p:nvPr/>
        </p:nvSpPr>
        <p:spPr>
          <a:xfrm>
            <a:off x="685800" y="2148840"/>
            <a:ext cx="2331720" cy="2331720"/>
          </a:xfrm>
          <a:prstGeom prst="roundRect">
            <a:avLst/>
          </a:prstGeom>
          <a:solidFill>
            <a:srgbClr val="FFFFFF"/>
          </a:solidFill>
          <a:ln w="10160">
            <a:solidFill>
              <a:srgbClr val="E1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2350008"/>
            <a:ext cx="384048" cy="384048"/>
          </a:xfrm>
          <a:prstGeom prst="ellipse">
            <a:avLst/>
          </a:prstGeom>
          <a:solidFill>
            <a:srgbClr val="2B8480"/>
          </a:solidFill>
          <a:ln>
            <a:solidFill>
              <a:srgbClr val="2B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382012"/>
            <a:ext cx="384048" cy="228600"/>
          </a:xfrm>
          <a:prstGeom prst="rect">
            <a:avLst/>
          </a:prstGeom>
          <a:noFill/>
        </p:spPr>
        <p:txBody>
          <a:bodyPr wrap="square" anchor="t">
            <a:spAutoFit/>
          </a:bodyPr>
          <a:lstStyle/>
          <a:p>
            <a:pPr algn="ctr"/>
            <a:r>
              <a:rPr sz="1000" b="1">
                <a:solidFill>
                  <a:srgbClr val="FFFFFF"/>
                </a:solidFill>
                <a:latin typeface="Aptos"/>
              </a:rPr>
              <a:t>1</a:t>
            </a:r>
          </a:p>
        </p:txBody>
      </p:sp>
      <p:sp>
        <p:nvSpPr>
          <p:cNvPr id="7" name="TextBox 6"/>
          <p:cNvSpPr txBox="1"/>
          <p:nvPr/>
        </p:nvSpPr>
        <p:spPr>
          <a:xfrm>
            <a:off x="886968" y="2779776"/>
            <a:ext cx="1929384" cy="438912"/>
          </a:xfrm>
          <a:prstGeom prst="rect">
            <a:avLst/>
          </a:prstGeom>
          <a:noFill/>
        </p:spPr>
        <p:txBody>
          <a:bodyPr wrap="square" anchor="t">
            <a:spAutoFit/>
          </a:bodyPr>
          <a:lstStyle/>
          <a:p>
            <a:pPr algn="l"/>
            <a:r>
              <a:rPr sz="1600" b="1" dirty="0">
                <a:solidFill>
                  <a:srgbClr val="233448"/>
                </a:solidFill>
                <a:latin typeface="Aptos"/>
              </a:rPr>
              <a:t>Visitor activity</a:t>
            </a:r>
          </a:p>
        </p:txBody>
      </p:sp>
      <p:sp>
        <p:nvSpPr>
          <p:cNvPr id="8" name="TextBox 7"/>
          <p:cNvSpPr txBox="1"/>
          <p:nvPr/>
        </p:nvSpPr>
        <p:spPr>
          <a:xfrm>
            <a:off x="886968" y="3383280"/>
            <a:ext cx="1929384" cy="713232"/>
          </a:xfrm>
          <a:prstGeom prst="rect">
            <a:avLst/>
          </a:prstGeom>
          <a:noFill/>
        </p:spPr>
        <p:txBody>
          <a:bodyPr wrap="square" anchor="t">
            <a:spAutoFit/>
          </a:bodyPr>
          <a:lstStyle/>
          <a:p>
            <a:pPr algn="l"/>
            <a:r>
              <a:rPr sz="1150" b="0" dirty="0">
                <a:solidFill>
                  <a:srgbClr val="626C78"/>
                </a:solidFill>
                <a:latin typeface="Aptos"/>
              </a:rPr>
              <a:t>Browsing, product engagement,
and session behavior</a:t>
            </a:r>
          </a:p>
        </p:txBody>
      </p:sp>
      <p:sp>
        <p:nvSpPr>
          <p:cNvPr id="9" name="Chevron 8"/>
          <p:cNvSpPr/>
          <p:nvPr/>
        </p:nvSpPr>
        <p:spPr>
          <a:xfrm>
            <a:off x="3090672" y="3108960"/>
            <a:ext cx="384048" cy="411480"/>
          </a:xfrm>
          <a:prstGeom prst="chevron">
            <a:avLst/>
          </a:prstGeom>
          <a:solidFill>
            <a:srgbClr val="E3F2F0"/>
          </a:solidFill>
          <a:ln>
            <a:solidFill>
              <a:srgbClr val="E3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46120" y="2148840"/>
            <a:ext cx="2331720" cy="2331720"/>
          </a:xfrm>
          <a:prstGeom prst="roundRect">
            <a:avLst/>
          </a:prstGeom>
          <a:solidFill>
            <a:srgbClr val="FFFFFF"/>
          </a:solidFill>
          <a:ln w="10160">
            <a:solidFill>
              <a:srgbClr val="E1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47288" y="2350008"/>
            <a:ext cx="384048" cy="384048"/>
          </a:xfrm>
          <a:prstGeom prst="ellipse">
            <a:avLst/>
          </a:prstGeom>
          <a:solidFill>
            <a:srgbClr val="2B8480"/>
          </a:solidFill>
          <a:ln>
            <a:solidFill>
              <a:srgbClr val="2B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47288" y="2382012"/>
            <a:ext cx="384048" cy="228600"/>
          </a:xfrm>
          <a:prstGeom prst="rect">
            <a:avLst/>
          </a:prstGeom>
          <a:noFill/>
        </p:spPr>
        <p:txBody>
          <a:bodyPr wrap="square" anchor="t">
            <a:spAutoFit/>
          </a:bodyPr>
          <a:lstStyle/>
          <a:p>
            <a:pPr algn="ctr"/>
            <a:r>
              <a:rPr sz="1000" b="1">
                <a:solidFill>
                  <a:srgbClr val="FFFFFF"/>
                </a:solidFill>
                <a:latin typeface="Aptos"/>
              </a:rPr>
              <a:t>2</a:t>
            </a:r>
          </a:p>
        </p:txBody>
      </p:sp>
      <p:sp>
        <p:nvSpPr>
          <p:cNvPr id="13" name="TextBox 12"/>
          <p:cNvSpPr txBox="1"/>
          <p:nvPr/>
        </p:nvSpPr>
        <p:spPr>
          <a:xfrm>
            <a:off x="3447288" y="2784348"/>
            <a:ext cx="1929384" cy="438912"/>
          </a:xfrm>
          <a:prstGeom prst="rect">
            <a:avLst/>
          </a:prstGeom>
          <a:noFill/>
        </p:spPr>
        <p:txBody>
          <a:bodyPr wrap="square" anchor="t">
            <a:spAutoFit/>
          </a:bodyPr>
          <a:lstStyle/>
          <a:p>
            <a:pPr algn="l"/>
            <a:r>
              <a:rPr sz="1600" b="1">
                <a:solidFill>
                  <a:srgbClr val="233448"/>
                </a:solidFill>
                <a:latin typeface="Aptos"/>
              </a:rPr>
              <a:t>Model estimates intent</a:t>
            </a:r>
          </a:p>
        </p:txBody>
      </p:sp>
      <p:sp>
        <p:nvSpPr>
          <p:cNvPr id="14" name="TextBox 13"/>
          <p:cNvSpPr txBox="1"/>
          <p:nvPr/>
        </p:nvSpPr>
        <p:spPr>
          <a:xfrm>
            <a:off x="3447288" y="3287268"/>
            <a:ext cx="1929384" cy="713232"/>
          </a:xfrm>
          <a:prstGeom prst="rect">
            <a:avLst/>
          </a:prstGeom>
          <a:noFill/>
        </p:spPr>
        <p:txBody>
          <a:bodyPr wrap="square" anchor="t">
            <a:spAutoFit/>
          </a:bodyPr>
          <a:lstStyle/>
          <a:p>
            <a:pPr algn="l"/>
            <a:r>
              <a:rPr sz="1150" b="0" dirty="0">
                <a:solidFill>
                  <a:srgbClr val="626C78"/>
                </a:solidFill>
                <a:latin typeface="Aptos"/>
              </a:rPr>
              <a:t>Purchase likelihood is
calculated from session signals</a:t>
            </a:r>
          </a:p>
        </p:txBody>
      </p:sp>
      <p:sp>
        <p:nvSpPr>
          <p:cNvPr id="15" name="Chevron 14"/>
          <p:cNvSpPr/>
          <p:nvPr/>
        </p:nvSpPr>
        <p:spPr>
          <a:xfrm>
            <a:off x="5650992" y="3108960"/>
            <a:ext cx="384048" cy="411480"/>
          </a:xfrm>
          <a:prstGeom prst="chevron">
            <a:avLst/>
          </a:prstGeom>
          <a:solidFill>
            <a:srgbClr val="E3F2F0"/>
          </a:solidFill>
          <a:ln>
            <a:solidFill>
              <a:srgbClr val="E3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806440" y="2148840"/>
            <a:ext cx="2331720" cy="2331720"/>
          </a:xfrm>
          <a:prstGeom prst="roundRect">
            <a:avLst/>
          </a:prstGeom>
          <a:solidFill>
            <a:srgbClr val="FFFFFF"/>
          </a:solidFill>
          <a:ln w="10160">
            <a:solidFill>
              <a:srgbClr val="E1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07607" y="2350008"/>
            <a:ext cx="384048" cy="384048"/>
          </a:xfrm>
          <a:prstGeom prst="ellipse">
            <a:avLst/>
          </a:prstGeom>
          <a:solidFill>
            <a:srgbClr val="2B8480"/>
          </a:solidFill>
          <a:ln>
            <a:solidFill>
              <a:srgbClr val="2B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07607" y="2382012"/>
            <a:ext cx="384048" cy="228600"/>
          </a:xfrm>
          <a:prstGeom prst="rect">
            <a:avLst/>
          </a:prstGeom>
          <a:noFill/>
        </p:spPr>
        <p:txBody>
          <a:bodyPr wrap="square" anchor="t">
            <a:spAutoFit/>
          </a:bodyPr>
          <a:lstStyle/>
          <a:p>
            <a:pPr algn="ctr"/>
            <a:r>
              <a:rPr sz="1000" b="1">
                <a:solidFill>
                  <a:srgbClr val="FFFFFF"/>
                </a:solidFill>
                <a:latin typeface="Aptos"/>
              </a:rPr>
              <a:t>3</a:t>
            </a:r>
          </a:p>
        </p:txBody>
      </p:sp>
      <p:sp>
        <p:nvSpPr>
          <p:cNvPr id="19" name="TextBox 18"/>
          <p:cNvSpPr txBox="1"/>
          <p:nvPr/>
        </p:nvSpPr>
        <p:spPr>
          <a:xfrm>
            <a:off x="6007607" y="2793492"/>
            <a:ext cx="1929384" cy="438912"/>
          </a:xfrm>
          <a:prstGeom prst="rect">
            <a:avLst/>
          </a:prstGeom>
          <a:noFill/>
        </p:spPr>
        <p:txBody>
          <a:bodyPr wrap="square" anchor="t">
            <a:spAutoFit/>
          </a:bodyPr>
          <a:lstStyle/>
          <a:p>
            <a:pPr algn="l"/>
            <a:r>
              <a:rPr sz="1600" b="1" dirty="0">
                <a:solidFill>
                  <a:srgbClr val="233448"/>
                </a:solidFill>
                <a:latin typeface="Aptos"/>
              </a:rPr>
              <a:t>High-intent signal</a:t>
            </a:r>
          </a:p>
        </p:txBody>
      </p:sp>
      <p:sp>
        <p:nvSpPr>
          <p:cNvPr id="20" name="TextBox 19"/>
          <p:cNvSpPr txBox="1"/>
          <p:nvPr/>
        </p:nvSpPr>
        <p:spPr>
          <a:xfrm>
            <a:off x="5989320" y="3305556"/>
            <a:ext cx="1929384" cy="713232"/>
          </a:xfrm>
          <a:prstGeom prst="rect">
            <a:avLst/>
          </a:prstGeom>
          <a:noFill/>
        </p:spPr>
        <p:txBody>
          <a:bodyPr wrap="square" anchor="t">
            <a:spAutoFit/>
          </a:bodyPr>
          <a:lstStyle/>
          <a:p>
            <a:pPr algn="l"/>
            <a:r>
              <a:rPr sz="1150" b="0" dirty="0">
                <a:solidFill>
                  <a:srgbClr val="626C78"/>
                </a:solidFill>
                <a:latin typeface="Aptos"/>
              </a:rPr>
              <a:t>Sessions above a chosen
threshold are prioritized</a:t>
            </a:r>
          </a:p>
        </p:txBody>
      </p:sp>
      <p:sp>
        <p:nvSpPr>
          <p:cNvPr id="21" name="Chevron 20"/>
          <p:cNvSpPr/>
          <p:nvPr/>
        </p:nvSpPr>
        <p:spPr>
          <a:xfrm>
            <a:off x="8211311" y="3108960"/>
            <a:ext cx="384048" cy="411480"/>
          </a:xfrm>
          <a:prstGeom prst="chevron">
            <a:avLst/>
          </a:prstGeom>
          <a:solidFill>
            <a:srgbClr val="E3F2F0"/>
          </a:solidFill>
          <a:ln>
            <a:solidFill>
              <a:srgbClr val="E3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366760" y="2148840"/>
            <a:ext cx="2331720" cy="2331720"/>
          </a:xfrm>
          <a:prstGeom prst="roundRect">
            <a:avLst/>
          </a:prstGeom>
          <a:solidFill>
            <a:srgbClr val="FFFFFF"/>
          </a:solidFill>
          <a:ln w="10160">
            <a:solidFill>
              <a:srgbClr val="E1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67928" y="2350008"/>
            <a:ext cx="384048" cy="384048"/>
          </a:xfrm>
          <a:prstGeom prst="ellipse">
            <a:avLst/>
          </a:prstGeom>
          <a:solidFill>
            <a:srgbClr val="233448"/>
          </a:solidFill>
          <a:ln>
            <a:solidFill>
              <a:srgbClr val="233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67928" y="2382012"/>
            <a:ext cx="384048" cy="228600"/>
          </a:xfrm>
          <a:prstGeom prst="rect">
            <a:avLst/>
          </a:prstGeom>
          <a:noFill/>
        </p:spPr>
        <p:txBody>
          <a:bodyPr wrap="square" anchor="t">
            <a:spAutoFit/>
          </a:bodyPr>
          <a:lstStyle/>
          <a:p>
            <a:pPr algn="ctr"/>
            <a:r>
              <a:rPr sz="1000" b="1">
                <a:solidFill>
                  <a:srgbClr val="FFFFFF"/>
                </a:solidFill>
                <a:latin typeface="Aptos"/>
              </a:rPr>
              <a:t>4</a:t>
            </a:r>
          </a:p>
        </p:txBody>
      </p:sp>
      <p:sp>
        <p:nvSpPr>
          <p:cNvPr id="25" name="TextBox 24"/>
          <p:cNvSpPr txBox="1"/>
          <p:nvPr/>
        </p:nvSpPr>
        <p:spPr>
          <a:xfrm>
            <a:off x="8567928" y="2862072"/>
            <a:ext cx="1929384" cy="438912"/>
          </a:xfrm>
          <a:prstGeom prst="rect">
            <a:avLst/>
          </a:prstGeom>
          <a:noFill/>
        </p:spPr>
        <p:txBody>
          <a:bodyPr wrap="square" anchor="t">
            <a:spAutoFit/>
          </a:bodyPr>
          <a:lstStyle/>
          <a:p>
            <a:pPr algn="l"/>
            <a:r>
              <a:rPr sz="1600" b="1">
                <a:solidFill>
                  <a:srgbClr val="233448"/>
                </a:solidFill>
                <a:latin typeface="Aptos"/>
              </a:rPr>
              <a:t>Business action</a:t>
            </a:r>
          </a:p>
        </p:txBody>
      </p:sp>
      <p:sp>
        <p:nvSpPr>
          <p:cNvPr id="26" name="TextBox 25"/>
          <p:cNvSpPr txBox="1"/>
          <p:nvPr/>
        </p:nvSpPr>
        <p:spPr>
          <a:xfrm>
            <a:off x="8567928" y="3236864"/>
            <a:ext cx="1929384" cy="713232"/>
          </a:xfrm>
          <a:prstGeom prst="rect">
            <a:avLst/>
          </a:prstGeom>
          <a:noFill/>
        </p:spPr>
        <p:txBody>
          <a:bodyPr wrap="square" anchor="t">
            <a:spAutoFit/>
          </a:bodyPr>
          <a:lstStyle/>
          <a:p>
            <a:pPr algn="l"/>
            <a:r>
              <a:rPr sz="1150" b="0" dirty="0">
                <a:solidFill>
                  <a:srgbClr val="626C78"/>
                </a:solidFill>
                <a:latin typeface="Aptos"/>
              </a:rPr>
              <a:t>Trigger the most appropriate
intervention or response</a:t>
            </a:r>
          </a:p>
        </p:txBody>
      </p:sp>
      <p:sp>
        <p:nvSpPr>
          <p:cNvPr id="27" name="TextBox 26"/>
          <p:cNvSpPr txBox="1"/>
          <p:nvPr/>
        </p:nvSpPr>
        <p:spPr>
          <a:xfrm>
            <a:off x="8595359" y="3790076"/>
            <a:ext cx="1920240" cy="320040"/>
          </a:xfrm>
          <a:prstGeom prst="rect">
            <a:avLst/>
          </a:prstGeom>
          <a:noFill/>
        </p:spPr>
        <p:txBody>
          <a:bodyPr wrap="square" anchor="t">
            <a:spAutoFit/>
          </a:bodyPr>
          <a:lstStyle/>
          <a:p>
            <a:pPr algn="l"/>
            <a:r>
              <a:rPr sz="950" b="1">
                <a:solidFill>
                  <a:srgbClr val="2B8480"/>
                </a:solidFill>
                <a:latin typeface="Aptos"/>
              </a:rPr>
              <a:t>Examples:</a:t>
            </a:r>
          </a:p>
        </p:txBody>
      </p:sp>
      <p:sp>
        <p:nvSpPr>
          <p:cNvPr id="28" name="TextBox 27"/>
          <p:cNvSpPr txBox="1"/>
          <p:nvPr/>
        </p:nvSpPr>
        <p:spPr>
          <a:xfrm>
            <a:off x="8549641" y="3922776"/>
            <a:ext cx="1920240" cy="548640"/>
          </a:xfrm>
          <a:prstGeom prst="rect">
            <a:avLst/>
          </a:prstGeom>
          <a:noFill/>
        </p:spPr>
        <p:txBody>
          <a:bodyPr wrap="square" anchor="t">
            <a:spAutoFit/>
          </a:bodyPr>
          <a:lstStyle/>
          <a:p>
            <a:pPr algn="l"/>
            <a:r>
              <a:rPr sz="950" b="0" dirty="0">
                <a:solidFill>
                  <a:srgbClr val="626C78"/>
                </a:solidFill>
                <a:latin typeface="Aptos"/>
              </a:rPr>
              <a:t>• Personalized offer
• Product recommendation
• UX or checkout support</a:t>
            </a:r>
          </a:p>
        </p:txBody>
      </p:sp>
      <p:sp>
        <p:nvSpPr>
          <p:cNvPr id="29" name="Rounded Rectangle 28"/>
          <p:cNvSpPr/>
          <p:nvPr/>
        </p:nvSpPr>
        <p:spPr>
          <a:xfrm>
            <a:off x="685800" y="4983480"/>
            <a:ext cx="10789920" cy="1051560"/>
          </a:xfrm>
          <a:prstGeom prst="roundRect">
            <a:avLst/>
          </a:prstGeom>
          <a:solidFill>
            <a:srgbClr val="E3F2F0"/>
          </a:solidFill>
          <a:ln w="10160">
            <a:solidFill>
              <a:srgbClr val="E3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0120" y="5187658"/>
            <a:ext cx="10241280" cy="323165"/>
          </a:xfrm>
          <a:prstGeom prst="rect">
            <a:avLst/>
          </a:prstGeom>
          <a:noFill/>
        </p:spPr>
        <p:txBody>
          <a:bodyPr wrap="square" anchor="ctr">
            <a:spAutoFit/>
          </a:bodyPr>
          <a:lstStyle/>
          <a:p>
            <a:pPr algn="ctr"/>
            <a:r>
              <a:rPr sz="1500" b="1" dirty="0">
                <a:solidFill>
                  <a:srgbClr val="233448"/>
                </a:solidFill>
                <a:latin typeface="Aptos"/>
              </a:rPr>
              <a:t>The prediction itself is not the </a:t>
            </a:r>
            <a:r>
              <a:rPr lang="en-US" sz="1500" b="1" dirty="0">
                <a:solidFill>
                  <a:srgbClr val="233448"/>
                </a:solidFill>
                <a:latin typeface="Aptos"/>
              </a:rPr>
              <a:t>final product</a:t>
            </a:r>
            <a:r>
              <a:rPr sz="1500" b="1" dirty="0">
                <a:solidFill>
                  <a:srgbClr val="233448"/>
                </a:solidFill>
                <a:latin typeface="Aptos"/>
              </a:rPr>
              <a:t>—the business value comes from linking it to a timely, appropriate action.</a:t>
            </a:r>
          </a:p>
        </p:txBody>
      </p:sp>
      <p:sp>
        <p:nvSpPr>
          <p:cNvPr id="31" name="TextBox 30"/>
          <p:cNvSpPr txBox="1"/>
          <p:nvPr/>
        </p:nvSpPr>
        <p:spPr>
          <a:xfrm>
            <a:off x="685800" y="6510528"/>
            <a:ext cx="5029200" cy="201168"/>
          </a:xfrm>
          <a:prstGeom prst="rect">
            <a:avLst/>
          </a:prstGeom>
          <a:noFill/>
        </p:spPr>
        <p:txBody>
          <a:bodyPr wrap="square" anchor="t">
            <a:spAutoFit/>
          </a:bodyPr>
          <a:lstStyle/>
          <a:p>
            <a:pPr algn="l"/>
            <a:r>
              <a:rPr sz="850" b="0">
                <a:solidFill>
                  <a:srgbClr val="626C78"/>
                </a:solidFill>
                <a:latin typeface="Aptos"/>
              </a:rPr>
              <a:t>Business application concept</a:t>
            </a:r>
          </a:p>
        </p:txBody>
      </p:sp>
      <p:sp>
        <p:nvSpPr>
          <p:cNvPr id="32" name="TextBox 31"/>
          <p:cNvSpPr txBox="1"/>
          <p:nvPr/>
        </p:nvSpPr>
        <p:spPr>
          <a:xfrm>
            <a:off x="10972800" y="6510528"/>
            <a:ext cx="365760" cy="201168"/>
          </a:xfrm>
          <a:prstGeom prst="rect">
            <a:avLst/>
          </a:prstGeom>
          <a:noFill/>
        </p:spPr>
        <p:txBody>
          <a:bodyPr wrap="square" anchor="t">
            <a:spAutoFit/>
          </a:bodyPr>
          <a:lstStyle/>
          <a:p>
            <a:pPr algn="r"/>
            <a:r>
              <a:rPr sz="850" b="0">
                <a:solidFill>
                  <a:srgbClr val="626C78"/>
                </a:solidFill>
                <a:latin typeface="Aptos"/>
              </a:rPr>
              <a:t>15</a:t>
            </a:r>
          </a:p>
        </p:txBody>
      </p:sp>
      <p:sp>
        <p:nvSpPr>
          <p:cNvPr id="33" name="TextBox 32">
            <a:extLst>
              <a:ext uri="{FF2B5EF4-FFF2-40B4-BE49-F238E27FC236}">
                <a16:creationId xmlns:a16="http://schemas.microsoft.com/office/drawing/2014/main" id="{24CF3117-D67E-4EB2-F66A-88042C31767A}"/>
              </a:ext>
            </a:extLst>
          </p:cNvPr>
          <p:cNvSpPr txBox="1"/>
          <p:nvPr/>
        </p:nvSpPr>
        <p:spPr>
          <a:xfrm>
            <a:off x="886968" y="3202853"/>
            <a:ext cx="1929384" cy="713232"/>
          </a:xfrm>
          <a:prstGeom prst="rect">
            <a:avLst/>
          </a:prstGeom>
          <a:noFill/>
        </p:spPr>
        <p:txBody>
          <a:bodyPr wrap="square" anchor="t">
            <a:spAutoFit/>
          </a:bodyPr>
          <a:lstStyle/>
          <a:p>
            <a:pPr algn="l"/>
            <a:r>
              <a:rPr sz="1150" b="0" dirty="0">
                <a:solidFill>
                  <a:srgbClr val="626C78"/>
                </a:solidFill>
                <a:latin typeface="Aptos"/>
              </a:rPr>
              <a:t>Browsing, product engagement,
and session behavior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PRACTICAL CONSIDERATIONS</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rPr dirty="0"/>
              <a:t>What would be needed before operational use?</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404872"/>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8" name="TextBox 7"/>
          <p:cNvSpPr txBox="1"/>
          <p:nvPr/>
        </p:nvSpPr>
        <p:spPr>
          <a:xfrm>
            <a:off x="914400" y="3246120"/>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10" name="TextBox 9"/>
          <p:cNvSpPr txBox="1"/>
          <p:nvPr/>
        </p:nvSpPr>
        <p:spPr>
          <a:xfrm>
            <a:off x="914400" y="4087368"/>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grpSp>
        <p:nvGrpSpPr>
          <p:cNvPr id="25" name="Group 24">
            <a:extLst>
              <a:ext uri="{FF2B5EF4-FFF2-40B4-BE49-F238E27FC236}">
                <a16:creationId xmlns:a16="http://schemas.microsoft.com/office/drawing/2014/main" id="{6278371D-0396-D727-F495-4038CD791EF6}"/>
              </a:ext>
            </a:extLst>
          </p:cNvPr>
          <p:cNvGrpSpPr/>
          <p:nvPr/>
        </p:nvGrpSpPr>
        <p:grpSpPr>
          <a:xfrm>
            <a:off x="640080" y="2487168"/>
            <a:ext cx="5212080" cy="3520440"/>
            <a:chOff x="685800" y="2148840"/>
            <a:chExt cx="5212080" cy="3520440"/>
          </a:xfrm>
        </p:grpSpPr>
        <p:sp>
          <p:nvSpPr>
            <p:cNvPr id="5" name="Rounded Rectangle 4"/>
            <p:cNvSpPr/>
            <p:nvPr/>
          </p:nvSpPr>
          <p:spPr>
            <a:xfrm>
              <a:off x="685800" y="2148840"/>
              <a:ext cx="5212080" cy="352044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24" name="Group 23">
              <a:extLst>
                <a:ext uri="{FF2B5EF4-FFF2-40B4-BE49-F238E27FC236}">
                  <a16:creationId xmlns:a16="http://schemas.microsoft.com/office/drawing/2014/main" id="{AFD8195B-A860-6C58-067F-D4ECC119DD61}"/>
                </a:ext>
              </a:extLst>
            </p:cNvPr>
            <p:cNvGrpSpPr/>
            <p:nvPr/>
          </p:nvGrpSpPr>
          <p:grpSpPr>
            <a:xfrm>
              <a:off x="1216152" y="2414015"/>
              <a:ext cx="4434840" cy="2340864"/>
              <a:chOff x="1216152" y="2414015"/>
              <a:chExt cx="4434840" cy="2340864"/>
            </a:xfrm>
          </p:grpSpPr>
          <p:sp>
            <p:nvSpPr>
              <p:cNvPr id="7" name="TextBox 6"/>
              <p:cNvSpPr txBox="1"/>
              <p:nvPr/>
            </p:nvSpPr>
            <p:spPr>
              <a:xfrm>
                <a:off x="1216152" y="2414015"/>
                <a:ext cx="4434840" cy="658368"/>
              </a:xfrm>
              <a:prstGeom prst="rect">
                <a:avLst/>
              </a:prstGeom>
              <a:noFill/>
            </p:spPr>
            <p:txBody>
              <a:bodyPr wrap="square" lIns="45720" rIns="45720" anchor="t">
                <a:spAutoFit/>
              </a:bodyPr>
              <a:lstStyle/>
              <a:p>
                <a:pPr algn="l">
                  <a:defRPr sz="1400" b="0">
                    <a:solidFill>
                      <a:srgbClr val="2D353D"/>
                    </a:solidFill>
                    <a:latin typeface="Aptos"/>
                  </a:defRPr>
                </a:pPr>
                <a:r>
                  <a:rPr dirty="0"/>
                  <a:t>Historical, session-level data may not reflect current behavior or longer-term customer patterns.</a:t>
                </a:r>
              </a:p>
            </p:txBody>
          </p:sp>
          <p:sp>
            <p:nvSpPr>
              <p:cNvPr id="9" name="TextBox 8"/>
              <p:cNvSpPr txBox="1"/>
              <p:nvPr/>
            </p:nvSpPr>
            <p:spPr>
              <a:xfrm>
                <a:off x="1216152" y="3255263"/>
                <a:ext cx="4434840" cy="658368"/>
              </a:xfrm>
              <a:prstGeom prst="rect">
                <a:avLst/>
              </a:prstGeom>
              <a:noFill/>
            </p:spPr>
            <p:txBody>
              <a:bodyPr wrap="square" lIns="45720" rIns="45720" anchor="t">
                <a:spAutoFit/>
              </a:bodyPr>
              <a:lstStyle/>
              <a:p>
                <a:pPr algn="l">
                  <a:defRPr sz="1400" b="0">
                    <a:solidFill>
                      <a:srgbClr val="2D353D"/>
                    </a:solidFill>
                    <a:latin typeface="Aptos"/>
                  </a:defRPr>
                </a:pPr>
                <a:r>
                  <a:rPr dirty="0"/>
                  <a:t>Important information such as price, promotions, purchase history, and detailed clickstream data was unavailable.</a:t>
                </a:r>
              </a:p>
            </p:txBody>
          </p:sp>
          <p:sp>
            <p:nvSpPr>
              <p:cNvPr id="11" name="TextBox 10"/>
              <p:cNvSpPr txBox="1"/>
              <p:nvPr/>
            </p:nvSpPr>
            <p:spPr>
              <a:xfrm>
                <a:off x="1216152" y="4096511"/>
                <a:ext cx="4434840" cy="658368"/>
              </a:xfrm>
              <a:prstGeom prst="rect">
                <a:avLst/>
              </a:prstGeom>
              <a:noFill/>
            </p:spPr>
            <p:txBody>
              <a:bodyPr wrap="square" lIns="45720" rIns="45720" anchor="t">
                <a:spAutoFit/>
              </a:bodyPr>
              <a:lstStyle/>
              <a:p>
                <a:pPr algn="l">
                  <a:defRPr sz="1400" b="0">
                    <a:solidFill>
                      <a:srgbClr val="2D353D"/>
                    </a:solidFill>
                    <a:latin typeface="Aptos"/>
                  </a:defRPr>
                </a:pPr>
                <a:r>
                  <a:rPr dirty="0"/>
                  <a:t>Feature importance is predictive—not causal—and </a:t>
                </a:r>
                <a:r>
                  <a:rPr dirty="0" err="1"/>
                  <a:t>PageValues</a:t>
                </a:r>
                <a:r>
                  <a:rPr dirty="0"/>
                  <a:t> may limit early-session use.</a:t>
                </a:r>
              </a:p>
            </p:txBody>
          </p:sp>
        </p:grpSp>
      </p:grpSp>
      <p:sp>
        <p:nvSpPr>
          <p:cNvPr id="13" name="TextBox 12"/>
          <p:cNvSpPr txBox="1"/>
          <p:nvPr/>
        </p:nvSpPr>
        <p:spPr>
          <a:xfrm>
            <a:off x="6492240" y="2404872"/>
            <a:ext cx="228600" cy="320040"/>
          </a:xfrm>
          <a:prstGeom prst="rect">
            <a:avLst/>
          </a:prstGeom>
          <a:noFill/>
        </p:spPr>
        <p:txBody>
          <a:bodyPr wrap="square" lIns="45720" rIns="45720" anchor="t">
            <a:spAutoFit/>
          </a:bodyPr>
          <a:lstStyle/>
          <a:p>
            <a:pPr algn="l">
              <a:defRPr sz="1600" b="1">
                <a:solidFill>
                  <a:srgbClr val="EE765C"/>
                </a:solidFill>
                <a:latin typeface="Aptos"/>
              </a:defRPr>
            </a:pPr>
            <a:r>
              <a:t>•</a:t>
            </a:r>
          </a:p>
        </p:txBody>
      </p:sp>
      <p:sp>
        <p:nvSpPr>
          <p:cNvPr id="15" name="TextBox 14"/>
          <p:cNvSpPr txBox="1"/>
          <p:nvPr/>
        </p:nvSpPr>
        <p:spPr>
          <a:xfrm>
            <a:off x="6492240" y="3246120"/>
            <a:ext cx="228600" cy="320040"/>
          </a:xfrm>
          <a:prstGeom prst="rect">
            <a:avLst/>
          </a:prstGeom>
          <a:noFill/>
        </p:spPr>
        <p:txBody>
          <a:bodyPr wrap="square" lIns="45720" rIns="45720" anchor="t">
            <a:spAutoFit/>
          </a:bodyPr>
          <a:lstStyle/>
          <a:p>
            <a:pPr algn="l">
              <a:defRPr sz="1600" b="1">
                <a:solidFill>
                  <a:srgbClr val="EE765C"/>
                </a:solidFill>
                <a:latin typeface="Aptos"/>
              </a:defRPr>
            </a:pPr>
            <a:r>
              <a:t>•</a:t>
            </a:r>
          </a:p>
        </p:txBody>
      </p:sp>
      <p:sp>
        <p:nvSpPr>
          <p:cNvPr id="17" name="TextBox 16"/>
          <p:cNvSpPr txBox="1"/>
          <p:nvPr/>
        </p:nvSpPr>
        <p:spPr>
          <a:xfrm>
            <a:off x="6492240" y="4087368"/>
            <a:ext cx="228600" cy="320040"/>
          </a:xfrm>
          <a:prstGeom prst="rect">
            <a:avLst/>
          </a:prstGeom>
          <a:noFill/>
        </p:spPr>
        <p:txBody>
          <a:bodyPr wrap="square" lIns="45720" rIns="45720" anchor="t">
            <a:spAutoFit/>
          </a:bodyPr>
          <a:lstStyle/>
          <a:p>
            <a:pPr algn="l">
              <a:defRPr sz="1600" b="1">
                <a:solidFill>
                  <a:srgbClr val="EE765C"/>
                </a:solidFill>
                <a:latin typeface="Aptos"/>
              </a:defRPr>
            </a:pPr>
            <a:r>
              <a:t>•</a:t>
            </a:r>
          </a:p>
        </p:txBody>
      </p:sp>
      <p:sp>
        <p:nvSpPr>
          <p:cNvPr id="19" name="TextBox 18"/>
          <p:cNvSpPr txBox="1"/>
          <p:nvPr/>
        </p:nvSpPr>
        <p:spPr>
          <a:xfrm>
            <a:off x="6492240" y="4928616"/>
            <a:ext cx="228600" cy="320040"/>
          </a:xfrm>
          <a:prstGeom prst="rect">
            <a:avLst/>
          </a:prstGeom>
          <a:noFill/>
        </p:spPr>
        <p:txBody>
          <a:bodyPr wrap="square" lIns="45720" rIns="45720" anchor="t">
            <a:spAutoFit/>
          </a:bodyPr>
          <a:lstStyle/>
          <a:p>
            <a:pPr algn="l">
              <a:defRPr sz="1600" b="1">
                <a:solidFill>
                  <a:srgbClr val="EE765C"/>
                </a:solidFill>
                <a:latin typeface="Aptos"/>
              </a:defRPr>
            </a:pPr>
            <a:r>
              <a:t>•</a:t>
            </a:r>
          </a:p>
        </p:txBody>
      </p:sp>
      <p:grpSp>
        <p:nvGrpSpPr>
          <p:cNvPr id="26" name="Group 25">
            <a:extLst>
              <a:ext uri="{FF2B5EF4-FFF2-40B4-BE49-F238E27FC236}">
                <a16:creationId xmlns:a16="http://schemas.microsoft.com/office/drawing/2014/main" id="{B1114115-093B-E148-FEC8-0BD111FC487A}"/>
              </a:ext>
            </a:extLst>
          </p:cNvPr>
          <p:cNvGrpSpPr/>
          <p:nvPr/>
        </p:nvGrpSpPr>
        <p:grpSpPr>
          <a:xfrm>
            <a:off x="6263640" y="2487168"/>
            <a:ext cx="5212080" cy="3520440"/>
            <a:chOff x="6263640" y="2148840"/>
            <a:chExt cx="5212080" cy="3520440"/>
          </a:xfrm>
        </p:grpSpPr>
        <p:sp>
          <p:nvSpPr>
            <p:cNvPr id="12" name="Rounded Rectangle 11"/>
            <p:cNvSpPr/>
            <p:nvPr/>
          </p:nvSpPr>
          <p:spPr>
            <a:xfrm>
              <a:off x="6263640" y="2148840"/>
              <a:ext cx="5212080" cy="352044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2414015"/>
              <a:ext cx="4434840" cy="658368"/>
            </a:xfrm>
            <a:prstGeom prst="rect">
              <a:avLst/>
            </a:prstGeom>
            <a:noFill/>
          </p:spPr>
          <p:txBody>
            <a:bodyPr wrap="square" lIns="45720" rIns="45720" anchor="t">
              <a:spAutoFit/>
            </a:bodyPr>
            <a:lstStyle/>
            <a:p>
              <a:pPr algn="l">
                <a:defRPr sz="1400" b="0">
                  <a:solidFill>
                    <a:srgbClr val="2D353D"/>
                  </a:solidFill>
                  <a:latin typeface="Aptos"/>
                </a:defRPr>
              </a:pPr>
              <a:r>
                <a:t>Validate on newer and external datasets.</a:t>
              </a:r>
            </a:p>
          </p:txBody>
        </p:sp>
        <p:sp>
          <p:nvSpPr>
            <p:cNvPr id="16" name="TextBox 15"/>
            <p:cNvSpPr txBox="1"/>
            <p:nvPr/>
          </p:nvSpPr>
          <p:spPr>
            <a:xfrm>
              <a:off x="6793992" y="3255263"/>
              <a:ext cx="4434840" cy="658368"/>
            </a:xfrm>
            <a:prstGeom prst="rect">
              <a:avLst/>
            </a:prstGeom>
            <a:noFill/>
          </p:spPr>
          <p:txBody>
            <a:bodyPr wrap="square" lIns="45720" rIns="45720" anchor="t">
              <a:spAutoFit/>
            </a:bodyPr>
            <a:lstStyle/>
            <a:p>
              <a:pPr algn="l">
                <a:defRPr sz="1400" b="0">
                  <a:solidFill>
                    <a:srgbClr val="2D353D"/>
                  </a:solidFill>
                  <a:latin typeface="Aptos"/>
                </a:defRPr>
              </a:pPr>
              <a:r>
                <a:t>Add richer customer and transaction context.</a:t>
              </a:r>
            </a:p>
          </p:txBody>
        </p:sp>
        <p:sp>
          <p:nvSpPr>
            <p:cNvPr id="18" name="TextBox 17"/>
            <p:cNvSpPr txBox="1"/>
            <p:nvPr/>
          </p:nvSpPr>
          <p:spPr>
            <a:xfrm>
              <a:off x="6793992" y="4096511"/>
              <a:ext cx="4434840" cy="658368"/>
            </a:xfrm>
            <a:prstGeom prst="rect">
              <a:avLst/>
            </a:prstGeom>
            <a:noFill/>
          </p:spPr>
          <p:txBody>
            <a:bodyPr wrap="square" lIns="45720" rIns="45720" anchor="t">
              <a:spAutoFit/>
            </a:bodyPr>
            <a:lstStyle/>
            <a:p>
              <a:pPr algn="l">
                <a:defRPr sz="1400" b="0">
                  <a:solidFill>
                    <a:srgbClr val="2D353D"/>
                  </a:solidFill>
                  <a:latin typeface="Aptos"/>
                </a:defRPr>
              </a:pPr>
              <a:r>
                <a:t>Test threshold optimization based on business costs.</a:t>
              </a:r>
            </a:p>
          </p:txBody>
        </p:sp>
        <p:sp>
          <p:nvSpPr>
            <p:cNvPr id="20" name="TextBox 19"/>
            <p:cNvSpPr txBox="1"/>
            <p:nvPr/>
          </p:nvSpPr>
          <p:spPr>
            <a:xfrm>
              <a:off x="6793992" y="4937759"/>
              <a:ext cx="4434840" cy="658368"/>
            </a:xfrm>
            <a:prstGeom prst="rect">
              <a:avLst/>
            </a:prstGeom>
            <a:noFill/>
          </p:spPr>
          <p:txBody>
            <a:bodyPr wrap="square" lIns="45720" rIns="45720" anchor="t">
              <a:spAutoFit/>
            </a:bodyPr>
            <a:lstStyle/>
            <a:p>
              <a:pPr algn="l">
                <a:defRPr sz="1400" b="0">
                  <a:solidFill>
                    <a:srgbClr val="2D353D"/>
                  </a:solidFill>
                  <a:latin typeface="Aptos"/>
                </a:defRPr>
              </a:pPr>
              <a:r>
                <a:t>Evaluate models without PageValues and explore additional algorithms.</a:t>
              </a:r>
            </a:p>
          </p:txBody>
        </p:sp>
      </p:grpSp>
      <p:sp>
        <p:nvSpPr>
          <p:cNvPr id="21" name="TextBox 20"/>
          <p:cNvSpPr txBox="1"/>
          <p:nvPr/>
        </p:nvSpPr>
        <p:spPr>
          <a:xfrm>
            <a:off x="868680" y="2139696"/>
            <a:ext cx="1645920" cy="274320"/>
          </a:xfrm>
          <a:prstGeom prst="rect">
            <a:avLst/>
          </a:prstGeom>
          <a:noFill/>
        </p:spPr>
        <p:txBody>
          <a:bodyPr wrap="square" lIns="45720" rIns="45720" anchor="t">
            <a:spAutoFit/>
          </a:bodyPr>
          <a:lstStyle/>
          <a:p>
            <a:pPr algn="l">
              <a:defRPr sz="1300" b="1">
                <a:solidFill>
                  <a:srgbClr val="1E8486"/>
                </a:solidFill>
                <a:latin typeface="Aptos"/>
              </a:defRPr>
            </a:pPr>
            <a:r>
              <a:t>Limitations</a:t>
            </a:r>
          </a:p>
        </p:txBody>
      </p:sp>
      <p:sp>
        <p:nvSpPr>
          <p:cNvPr id="22" name="TextBox 21"/>
          <p:cNvSpPr txBox="1"/>
          <p:nvPr/>
        </p:nvSpPr>
        <p:spPr>
          <a:xfrm>
            <a:off x="6446520" y="2139696"/>
            <a:ext cx="1645920" cy="274320"/>
          </a:xfrm>
          <a:prstGeom prst="rect">
            <a:avLst/>
          </a:prstGeom>
          <a:noFill/>
        </p:spPr>
        <p:txBody>
          <a:bodyPr wrap="square" lIns="45720" rIns="45720" anchor="t">
            <a:spAutoFit/>
          </a:bodyPr>
          <a:lstStyle/>
          <a:p>
            <a:pPr algn="l">
              <a:defRPr sz="1300" b="1">
                <a:solidFill>
                  <a:srgbClr val="EE765C"/>
                </a:solidFill>
                <a:latin typeface="Aptos"/>
              </a:defRPr>
            </a:pPr>
            <a:r>
              <a:rPr dirty="0"/>
              <a:t>Next steps</a:t>
            </a:r>
          </a:p>
        </p:txBody>
      </p:sp>
      <p:sp>
        <p:nvSpPr>
          <p:cNvPr id="23" name="TextBox 22"/>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52338"/>
        </a:solidFill>
        <a:effectLst/>
      </p:bgPr>
    </p:bg>
    <p:spTree>
      <p:nvGrpSpPr>
        <p:cNvPr id="1" name=""/>
        <p:cNvGrpSpPr/>
        <p:nvPr/>
      </p:nvGrpSpPr>
      <p:grpSpPr>
        <a:xfrm>
          <a:off x="0" y="0"/>
          <a:ext cx="0" cy="0"/>
          <a:chOff x="0" y="0"/>
          <a:chExt cx="0" cy="0"/>
        </a:xfrm>
      </p:grpSpPr>
      <p:sp>
        <p:nvSpPr>
          <p:cNvPr id="2" name="TextBox 1"/>
          <p:cNvSpPr txBox="1"/>
          <p:nvPr/>
        </p:nvSpPr>
        <p:spPr>
          <a:xfrm>
            <a:off x="685800" y="685800"/>
            <a:ext cx="2743200" cy="276999"/>
          </a:xfrm>
          <a:prstGeom prst="rect">
            <a:avLst/>
          </a:prstGeom>
          <a:noFill/>
        </p:spPr>
        <p:txBody>
          <a:bodyPr wrap="square" lIns="45720" rIns="45720" anchor="t">
            <a:spAutoFit/>
          </a:bodyPr>
          <a:lstStyle/>
          <a:p>
            <a:pPr algn="l">
              <a:defRPr sz="1000" b="1">
                <a:solidFill>
                  <a:srgbClr val="69C9C4"/>
                </a:solidFill>
                <a:latin typeface="Aptos"/>
              </a:defRPr>
            </a:pPr>
            <a:r>
              <a:rPr sz="1200" dirty="0"/>
              <a:t>THE TAKEAWAY</a:t>
            </a:r>
          </a:p>
        </p:txBody>
      </p:sp>
      <p:sp>
        <p:nvSpPr>
          <p:cNvPr id="3" name="TextBox 2"/>
          <p:cNvSpPr txBox="1"/>
          <p:nvPr/>
        </p:nvSpPr>
        <p:spPr>
          <a:xfrm>
            <a:off x="685800" y="1234440"/>
            <a:ext cx="9966960" cy="1417320"/>
          </a:xfrm>
          <a:prstGeom prst="rect">
            <a:avLst/>
          </a:prstGeom>
          <a:noFill/>
        </p:spPr>
        <p:txBody>
          <a:bodyPr wrap="square" lIns="45720" rIns="45720" anchor="t">
            <a:spAutoFit/>
          </a:bodyPr>
          <a:lstStyle/>
          <a:p>
            <a:pPr algn="l">
              <a:defRPr sz="3000" b="1">
                <a:solidFill>
                  <a:srgbClr val="FFFFFF"/>
                </a:solidFill>
                <a:latin typeface="Aptos"/>
              </a:defRPr>
            </a:pPr>
            <a:r>
              <a:t>How visitors engage with a website may reveal more about purchase intent than who they are.</a:t>
            </a:r>
          </a:p>
        </p:txBody>
      </p:sp>
      <p:sp>
        <p:nvSpPr>
          <p:cNvPr id="4" name="Rectangle 3"/>
          <p:cNvSpPr/>
          <p:nvPr/>
        </p:nvSpPr>
        <p:spPr>
          <a:xfrm>
            <a:off x="713232" y="2971800"/>
            <a:ext cx="1097280" cy="54864"/>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3429000"/>
            <a:ext cx="9875520" cy="822960"/>
          </a:xfrm>
          <a:prstGeom prst="rect">
            <a:avLst/>
          </a:prstGeom>
          <a:noFill/>
        </p:spPr>
        <p:txBody>
          <a:bodyPr wrap="square" lIns="45720" rIns="45720" anchor="t">
            <a:spAutoFit/>
          </a:bodyPr>
          <a:lstStyle/>
          <a:p>
            <a:pPr algn="l">
              <a:defRPr sz="1700" b="0">
                <a:solidFill>
                  <a:srgbClr val="D2DDE6"/>
                </a:solidFill>
                <a:latin typeface="Aptos"/>
              </a:defRPr>
            </a:pPr>
            <a:r>
              <a:t>The Tuned Random Forest identified the strongest balance of recall, F1-score, and ROC-AUC—and the model's most useful signals were rooted in browsing and engagement behavior.</a:t>
            </a:r>
          </a:p>
        </p:txBody>
      </p:sp>
      <p:sp>
        <p:nvSpPr>
          <p:cNvPr id="6" name="TextBox 5"/>
          <p:cNvSpPr txBox="1"/>
          <p:nvPr/>
        </p:nvSpPr>
        <p:spPr>
          <a:xfrm>
            <a:off x="713232" y="5166360"/>
            <a:ext cx="5486400" cy="548640"/>
          </a:xfrm>
          <a:prstGeom prst="rect">
            <a:avLst/>
          </a:prstGeom>
          <a:noFill/>
        </p:spPr>
        <p:txBody>
          <a:bodyPr wrap="square" lIns="45720" rIns="45720" anchor="t">
            <a:spAutoFit/>
          </a:bodyPr>
          <a:lstStyle/>
          <a:p>
            <a:pPr algn="l">
              <a:defRPr sz="2300" b="1">
                <a:solidFill>
                  <a:srgbClr val="69C9C4"/>
                </a:solidFill>
                <a:latin typeface="Aptos"/>
              </a:defRPr>
            </a:pPr>
            <a:r>
              <a:t>Questions &amp; Discussion</a:t>
            </a:r>
          </a:p>
        </p:txBody>
      </p:sp>
      <p:sp>
        <p:nvSpPr>
          <p:cNvPr id="7" name="TextBox 6"/>
          <p:cNvSpPr txBox="1"/>
          <p:nvPr/>
        </p:nvSpPr>
        <p:spPr>
          <a:xfrm>
            <a:off x="713232" y="5806440"/>
            <a:ext cx="6400800" cy="320040"/>
          </a:xfrm>
          <a:prstGeom prst="rect">
            <a:avLst/>
          </a:prstGeom>
          <a:noFill/>
        </p:spPr>
        <p:txBody>
          <a:bodyPr wrap="square" lIns="45720" rIns="45720" anchor="t">
            <a:spAutoFit/>
          </a:bodyPr>
          <a:lstStyle/>
          <a:p>
            <a:pPr algn="l">
              <a:defRPr sz="1100" b="0">
                <a:solidFill>
                  <a:srgbClr val="D2DDE6"/>
                </a:solidFill>
                <a:latin typeface="Aptos"/>
              </a:defRPr>
            </a:pPr>
            <a:r>
              <a:t>Gayathri Ramani  •  Springboard Data Science Career Track</a:t>
            </a:r>
          </a:p>
        </p:txBody>
      </p:sp>
      <p:sp>
        <p:nvSpPr>
          <p:cNvPr id="8" name="TextBox 7"/>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85800" y="2057400"/>
            <a:ext cx="1828800" cy="365760"/>
          </a:xfrm>
          <a:prstGeom prst="rect">
            <a:avLst/>
          </a:prstGeom>
          <a:noFill/>
        </p:spPr>
        <p:txBody>
          <a:bodyPr wrap="square" lIns="45720" rIns="45720" anchor="t">
            <a:spAutoFit/>
          </a:bodyPr>
          <a:lstStyle/>
          <a:p>
            <a:pPr algn="l">
              <a:defRPr sz="1200" b="1">
                <a:solidFill>
                  <a:srgbClr val="1E8486"/>
                </a:solidFill>
                <a:latin typeface="Aptos"/>
              </a:defRPr>
            </a:pPr>
            <a:r>
              <a:rPr dirty="0"/>
              <a:t>APPENDIX</a:t>
            </a:r>
          </a:p>
        </p:txBody>
      </p:sp>
      <p:sp>
        <p:nvSpPr>
          <p:cNvPr id="3" name="TextBox 2"/>
          <p:cNvSpPr txBox="1"/>
          <p:nvPr/>
        </p:nvSpPr>
        <p:spPr>
          <a:xfrm>
            <a:off x="685800" y="2514600"/>
            <a:ext cx="7772400" cy="685800"/>
          </a:xfrm>
          <a:prstGeom prst="rect">
            <a:avLst/>
          </a:prstGeom>
          <a:noFill/>
        </p:spPr>
        <p:txBody>
          <a:bodyPr wrap="square" lIns="45720" rIns="45720" anchor="t">
            <a:spAutoFit/>
          </a:bodyPr>
          <a:lstStyle/>
          <a:p>
            <a:pPr algn="l">
              <a:defRPr sz="3200" b="1">
                <a:solidFill>
                  <a:srgbClr val="2D353D"/>
                </a:solidFill>
                <a:latin typeface="Aptos"/>
              </a:defRPr>
            </a:pPr>
            <a:r>
              <a:t>Technical Details</a:t>
            </a:r>
          </a:p>
        </p:txBody>
      </p:sp>
      <p:sp>
        <p:nvSpPr>
          <p:cNvPr id="4" name="TextBox 3"/>
          <p:cNvSpPr txBox="1"/>
          <p:nvPr/>
        </p:nvSpPr>
        <p:spPr>
          <a:xfrm>
            <a:off x="685800" y="3337560"/>
            <a:ext cx="8686800" cy="411480"/>
          </a:xfrm>
          <a:prstGeom prst="rect">
            <a:avLst/>
          </a:prstGeom>
          <a:noFill/>
        </p:spPr>
        <p:txBody>
          <a:bodyPr wrap="square" lIns="45720" rIns="45720" anchor="t">
            <a:spAutoFit/>
          </a:bodyPr>
          <a:lstStyle/>
          <a:p>
            <a:pPr algn="l">
              <a:defRPr sz="1500" b="0">
                <a:solidFill>
                  <a:srgbClr val="6A7580"/>
                </a:solidFill>
                <a:latin typeface="Aptos"/>
              </a:defRPr>
            </a:pPr>
            <a:r>
              <a:t>Additional methodology and model-development details for technical discussion.</a:t>
            </a:r>
          </a:p>
        </p:txBody>
      </p:sp>
      <p:sp>
        <p:nvSpPr>
          <p:cNvPr id="5" name="TextBox 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APPENDIX</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Preprocessing and leakage prevention</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2057400"/>
            <a:ext cx="489204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21992"/>
            <a:ext cx="457200" cy="228600"/>
          </a:xfrm>
          <a:prstGeom prst="rect">
            <a:avLst/>
          </a:prstGeom>
          <a:noFill/>
        </p:spPr>
        <p:txBody>
          <a:bodyPr wrap="square" lIns="45720" rIns="45720" anchor="t">
            <a:spAutoFit/>
          </a:bodyPr>
          <a:lstStyle/>
          <a:p>
            <a:pPr algn="l">
              <a:defRPr sz="1000" b="1">
                <a:solidFill>
                  <a:srgbClr val="1E8486"/>
                </a:solidFill>
                <a:latin typeface="Aptos"/>
              </a:defRPr>
            </a:pPr>
            <a:r>
              <a:t>01</a:t>
            </a:r>
          </a:p>
        </p:txBody>
      </p:sp>
      <p:sp>
        <p:nvSpPr>
          <p:cNvPr id="7" name="TextBox 6"/>
          <p:cNvSpPr txBox="1"/>
          <p:nvPr/>
        </p:nvSpPr>
        <p:spPr>
          <a:xfrm>
            <a:off x="1417320" y="2203704"/>
            <a:ext cx="3566160" cy="320040"/>
          </a:xfrm>
          <a:prstGeom prst="rect">
            <a:avLst/>
          </a:prstGeom>
          <a:noFill/>
        </p:spPr>
        <p:txBody>
          <a:bodyPr wrap="square" lIns="45720" rIns="45720" anchor="t">
            <a:spAutoFit/>
          </a:bodyPr>
          <a:lstStyle/>
          <a:p>
            <a:pPr algn="l">
              <a:defRPr sz="1500" b="1">
                <a:solidFill>
                  <a:srgbClr val="2D353D"/>
                </a:solidFill>
                <a:latin typeface="Aptos"/>
              </a:defRPr>
            </a:pPr>
            <a:r>
              <a:t>Train/test split</a:t>
            </a:r>
          </a:p>
        </p:txBody>
      </p:sp>
      <p:sp>
        <p:nvSpPr>
          <p:cNvPr id="8" name="TextBox 7"/>
          <p:cNvSpPr txBox="1"/>
          <p:nvPr/>
        </p:nvSpPr>
        <p:spPr>
          <a:xfrm>
            <a:off x="1417320" y="2624328"/>
            <a:ext cx="3794760" cy="594360"/>
          </a:xfrm>
          <a:prstGeom prst="rect">
            <a:avLst/>
          </a:prstGeom>
          <a:noFill/>
        </p:spPr>
        <p:txBody>
          <a:bodyPr wrap="square" lIns="45720" rIns="45720" anchor="t">
            <a:spAutoFit/>
          </a:bodyPr>
          <a:lstStyle/>
          <a:p>
            <a:pPr algn="l">
              <a:defRPr sz="1200" b="0">
                <a:solidFill>
                  <a:srgbClr val="6A7580"/>
                </a:solidFill>
                <a:latin typeface="Aptos"/>
              </a:defRPr>
            </a:pPr>
            <a:r>
              <a:t>80/20 split with stratification to preserve purchase prevalence.</a:t>
            </a:r>
          </a:p>
        </p:txBody>
      </p:sp>
      <p:sp>
        <p:nvSpPr>
          <p:cNvPr id="9" name="Rounded Rectangle 8"/>
          <p:cNvSpPr/>
          <p:nvPr/>
        </p:nvSpPr>
        <p:spPr>
          <a:xfrm>
            <a:off x="6080760" y="2057400"/>
            <a:ext cx="489204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2221992"/>
            <a:ext cx="457200" cy="228600"/>
          </a:xfrm>
          <a:prstGeom prst="rect">
            <a:avLst/>
          </a:prstGeom>
          <a:noFill/>
        </p:spPr>
        <p:txBody>
          <a:bodyPr wrap="square" lIns="45720" rIns="45720" anchor="t">
            <a:spAutoFit/>
          </a:bodyPr>
          <a:lstStyle/>
          <a:p>
            <a:pPr algn="l">
              <a:defRPr sz="1000" b="1">
                <a:solidFill>
                  <a:srgbClr val="EE765C"/>
                </a:solidFill>
                <a:latin typeface="Aptos"/>
              </a:defRPr>
            </a:pPr>
            <a:r>
              <a:t>02</a:t>
            </a:r>
          </a:p>
        </p:txBody>
      </p:sp>
      <p:sp>
        <p:nvSpPr>
          <p:cNvPr id="11" name="TextBox 10"/>
          <p:cNvSpPr txBox="1"/>
          <p:nvPr/>
        </p:nvSpPr>
        <p:spPr>
          <a:xfrm>
            <a:off x="6812280" y="2203704"/>
            <a:ext cx="3566160" cy="320040"/>
          </a:xfrm>
          <a:prstGeom prst="rect">
            <a:avLst/>
          </a:prstGeom>
          <a:noFill/>
        </p:spPr>
        <p:txBody>
          <a:bodyPr wrap="square" lIns="45720" rIns="45720" anchor="t">
            <a:spAutoFit/>
          </a:bodyPr>
          <a:lstStyle/>
          <a:p>
            <a:pPr algn="l">
              <a:defRPr sz="1500" b="1">
                <a:solidFill>
                  <a:srgbClr val="2D353D"/>
                </a:solidFill>
                <a:latin typeface="Aptos"/>
              </a:defRPr>
            </a:pPr>
            <a:r>
              <a:t>Feature preparation</a:t>
            </a:r>
          </a:p>
        </p:txBody>
      </p:sp>
      <p:sp>
        <p:nvSpPr>
          <p:cNvPr id="12" name="TextBox 11"/>
          <p:cNvSpPr txBox="1"/>
          <p:nvPr/>
        </p:nvSpPr>
        <p:spPr>
          <a:xfrm>
            <a:off x="6812280" y="2624328"/>
            <a:ext cx="3794760" cy="594360"/>
          </a:xfrm>
          <a:prstGeom prst="rect">
            <a:avLst/>
          </a:prstGeom>
          <a:noFill/>
        </p:spPr>
        <p:txBody>
          <a:bodyPr wrap="square" lIns="45720" rIns="45720" anchor="t">
            <a:spAutoFit/>
          </a:bodyPr>
          <a:lstStyle/>
          <a:p>
            <a:pPr algn="l">
              <a:defRPr sz="1200" b="0">
                <a:solidFill>
                  <a:srgbClr val="6A7580"/>
                </a:solidFill>
                <a:latin typeface="Aptos"/>
              </a:defRPr>
            </a:pPr>
            <a:r>
              <a:t>10 numerical features scaled; 6 categorical features one-hot encoded; Weekend retained as binary.</a:t>
            </a:r>
          </a:p>
        </p:txBody>
      </p:sp>
      <p:sp>
        <p:nvSpPr>
          <p:cNvPr id="13" name="Rounded Rectangle 12"/>
          <p:cNvSpPr/>
          <p:nvPr/>
        </p:nvSpPr>
        <p:spPr>
          <a:xfrm>
            <a:off x="685800" y="3886200"/>
            <a:ext cx="489204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050791"/>
            <a:ext cx="457200" cy="228600"/>
          </a:xfrm>
          <a:prstGeom prst="rect">
            <a:avLst/>
          </a:prstGeom>
          <a:noFill/>
        </p:spPr>
        <p:txBody>
          <a:bodyPr wrap="square" lIns="45720" rIns="45720" anchor="t">
            <a:spAutoFit/>
          </a:bodyPr>
          <a:lstStyle/>
          <a:p>
            <a:pPr algn="l">
              <a:defRPr sz="1000" b="1">
                <a:solidFill>
                  <a:srgbClr val="E0B154"/>
                </a:solidFill>
                <a:latin typeface="Aptos"/>
              </a:defRPr>
            </a:pPr>
            <a:r>
              <a:t>03</a:t>
            </a:r>
          </a:p>
        </p:txBody>
      </p:sp>
      <p:sp>
        <p:nvSpPr>
          <p:cNvPr id="15" name="TextBox 14"/>
          <p:cNvSpPr txBox="1"/>
          <p:nvPr/>
        </p:nvSpPr>
        <p:spPr>
          <a:xfrm>
            <a:off x="1417320" y="4032504"/>
            <a:ext cx="3566160" cy="320040"/>
          </a:xfrm>
          <a:prstGeom prst="rect">
            <a:avLst/>
          </a:prstGeom>
          <a:noFill/>
        </p:spPr>
        <p:txBody>
          <a:bodyPr wrap="square" lIns="45720" rIns="45720" anchor="t">
            <a:spAutoFit/>
          </a:bodyPr>
          <a:lstStyle/>
          <a:p>
            <a:pPr algn="l">
              <a:defRPr sz="1500" b="1">
                <a:solidFill>
                  <a:srgbClr val="2D353D"/>
                </a:solidFill>
                <a:latin typeface="Aptos"/>
              </a:defRPr>
            </a:pPr>
            <a:r>
              <a:t>Pipeline</a:t>
            </a:r>
          </a:p>
        </p:txBody>
      </p:sp>
      <p:sp>
        <p:nvSpPr>
          <p:cNvPr id="16" name="TextBox 15"/>
          <p:cNvSpPr txBox="1"/>
          <p:nvPr/>
        </p:nvSpPr>
        <p:spPr>
          <a:xfrm>
            <a:off x="1417320" y="4453128"/>
            <a:ext cx="3794760" cy="594360"/>
          </a:xfrm>
          <a:prstGeom prst="rect">
            <a:avLst/>
          </a:prstGeom>
          <a:noFill/>
        </p:spPr>
        <p:txBody>
          <a:bodyPr wrap="square" lIns="45720" rIns="45720" anchor="t">
            <a:spAutoFit/>
          </a:bodyPr>
          <a:lstStyle/>
          <a:p>
            <a:pPr algn="l">
              <a:defRPr sz="1200" b="0">
                <a:solidFill>
                  <a:srgbClr val="6A7580"/>
                </a:solidFill>
                <a:latin typeface="Aptos"/>
              </a:defRPr>
            </a:pPr>
            <a:r>
              <a:t>ColumnTransformer applied preprocessing consistently across model inputs.</a:t>
            </a:r>
          </a:p>
        </p:txBody>
      </p:sp>
      <p:sp>
        <p:nvSpPr>
          <p:cNvPr id="17" name="Rounded Rectangle 16"/>
          <p:cNvSpPr/>
          <p:nvPr/>
        </p:nvSpPr>
        <p:spPr>
          <a:xfrm>
            <a:off x="6080760" y="3886200"/>
            <a:ext cx="4892040" cy="141732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4050791"/>
            <a:ext cx="457200" cy="228600"/>
          </a:xfrm>
          <a:prstGeom prst="rect">
            <a:avLst/>
          </a:prstGeom>
          <a:noFill/>
        </p:spPr>
        <p:txBody>
          <a:bodyPr wrap="square" lIns="45720" rIns="45720" anchor="t">
            <a:spAutoFit/>
          </a:bodyPr>
          <a:lstStyle/>
          <a:p>
            <a:pPr algn="l">
              <a:defRPr sz="1000" b="1">
                <a:solidFill>
                  <a:srgbClr val="69C9C4"/>
                </a:solidFill>
                <a:latin typeface="Aptos"/>
              </a:defRPr>
            </a:pPr>
            <a:r>
              <a:t>04</a:t>
            </a:r>
          </a:p>
        </p:txBody>
      </p:sp>
      <p:sp>
        <p:nvSpPr>
          <p:cNvPr id="19" name="TextBox 18"/>
          <p:cNvSpPr txBox="1"/>
          <p:nvPr/>
        </p:nvSpPr>
        <p:spPr>
          <a:xfrm>
            <a:off x="6812280" y="4032504"/>
            <a:ext cx="3566160" cy="320040"/>
          </a:xfrm>
          <a:prstGeom prst="rect">
            <a:avLst/>
          </a:prstGeom>
          <a:noFill/>
        </p:spPr>
        <p:txBody>
          <a:bodyPr wrap="square" lIns="45720" rIns="45720" anchor="t">
            <a:spAutoFit/>
          </a:bodyPr>
          <a:lstStyle/>
          <a:p>
            <a:pPr algn="l">
              <a:defRPr sz="1500" b="1">
                <a:solidFill>
                  <a:srgbClr val="2D353D"/>
                </a:solidFill>
                <a:latin typeface="Aptos"/>
              </a:defRPr>
            </a:pPr>
            <a:r>
              <a:t>Leakage prevention</a:t>
            </a:r>
          </a:p>
        </p:txBody>
      </p:sp>
      <p:sp>
        <p:nvSpPr>
          <p:cNvPr id="20" name="TextBox 19"/>
          <p:cNvSpPr txBox="1"/>
          <p:nvPr/>
        </p:nvSpPr>
        <p:spPr>
          <a:xfrm>
            <a:off x="6812280" y="4453128"/>
            <a:ext cx="3794760" cy="594360"/>
          </a:xfrm>
          <a:prstGeom prst="rect">
            <a:avLst/>
          </a:prstGeom>
          <a:noFill/>
        </p:spPr>
        <p:txBody>
          <a:bodyPr wrap="square" lIns="45720" rIns="45720" anchor="t">
            <a:spAutoFit/>
          </a:bodyPr>
          <a:lstStyle/>
          <a:p>
            <a:pPr algn="l">
              <a:defRPr sz="1200" b="0">
                <a:solidFill>
                  <a:srgbClr val="6A7580"/>
                </a:solidFill>
                <a:latin typeface="Aptos"/>
              </a:defRPr>
            </a:pPr>
            <a:r>
              <a:t>Preprocessor fit only on training data; validation/test data transformed with the fitted pipeline.</a:t>
            </a:r>
          </a:p>
        </p:txBody>
      </p:sp>
      <p:sp>
        <p:nvSpPr>
          <p:cNvPr id="21" name="TextBox 20"/>
          <p:cNvSpPr txBox="1"/>
          <p:nvPr/>
        </p:nvSpPr>
        <p:spPr>
          <a:xfrm>
            <a:off x="685800" y="5897880"/>
            <a:ext cx="10515600" cy="365760"/>
          </a:xfrm>
          <a:prstGeom prst="rect">
            <a:avLst/>
          </a:prstGeom>
          <a:noFill/>
        </p:spPr>
        <p:txBody>
          <a:bodyPr wrap="square" lIns="45720" rIns="45720" anchor="t">
            <a:spAutoFit/>
          </a:bodyPr>
          <a:lstStyle/>
          <a:p>
            <a:pPr algn="ctr">
              <a:defRPr sz="1400" b="1">
                <a:solidFill>
                  <a:srgbClr val="1E8486"/>
                </a:solidFill>
                <a:latin typeface="Aptos"/>
              </a:defRPr>
            </a:pPr>
            <a:r>
              <a:t>Result: 17 original predictors became 74 model-ready features after preprocessing.</a:t>
            </a:r>
          </a:p>
        </p:txBody>
      </p:sp>
      <p:sp>
        <p:nvSpPr>
          <p:cNvPr id="22" name="TextBox 21"/>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APPENDIX</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Deep neural network architecture and tuning</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103120"/>
            <a:ext cx="1828800" cy="320040"/>
          </a:xfrm>
          <a:prstGeom prst="rect">
            <a:avLst/>
          </a:prstGeom>
          <a:noFill/>
        </p:spPr>
        <p:txBody>
          <a:bodyPr wrap="square" lIns="45720" rIns="45720" anchor="t">
            <a:spAutoFit/>
          </a:bodyPr>
          <a:lstStyle/>
          <a:p>
            <a:pPr algn="l">
              <a:defRPr sz="1600" b="1">
                <a:solidFill>
                  <a:srgbClr val="1E8486"/>
                </a:solidFill>
                <a:latin typeface="Aptos"/>
              </a:defRPr>
            </a:pPr>
            <a:r>
              <a:t>Initial DNN</a:t>
            </a:r>
          </a:p>
        </p:txBody>
      </p:sp>
      <p:sp>
        <p:nvSpPr>
          <p:cNvPr id="6" name="Rounded Rectangle 5"/>
          <p:cNvSpPr/>
          <p:nvPr/>
        </p:nvSpPr>
        <p:spPr>
          <a:xfrm>
            <a:off x="2331720" y="214884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31720" y="235000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74 inputs</a:t>
            </a:r>
          </a:p>
        </p:txBody>
      </p:sp>
      <p:sp>
        <p:nvSpPr>
          <p:cNvPr id="8" name="TextBox 7"/>
          <p:cNvSpPr txBox="1"/>
          <p:nvPr/>
        </p:nvSpPr>
        <p:spPr>
          <a:xfrm>
            <a:off x="3840479" y="233172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9" name="Rounded Rectangle 8"/>
          <p:cNvSpPr/>
          <p:nvPr/>
        </p:nvSpPr>
        <p:spPr>
          <a:xfrm>
            <a:off x="4206240" y="214884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235000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64</a:t>
            </a:r>
          </a:p>
        </p:txBody>
      </p:sp>
      <p:sp>
        <p:nvSpPr>
          <p:cNvPr id="11" name="TextBox 10"/>
          <p:cNvSpPr txBox="1"/>
          <p:nvPr/>
        </p:nvSpPr>
        <p:spPr>
          <a:xfrm>
            <a:off x="5715000" y="233172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12" name="Rounded Rectangle 11"/>
          <p:cNvSpPr/>
          <p:nvPr/>
        </p:nvSpPr>
        <p:spPr>
          <a:xfrm>
            <a:off x="6080759" y="214884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59" y="235000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32</a:t>
            </a:r>
          </a:p>
        </p:txBody>
      </p:sp>
      <p:sp>
        <p:nvSpPr>
          <p:cNvPr id="14" name="TextBox 13"/>
          <p:cNvSpPr txBox="1"/>
          <p:nvPr/>
        </p:nvSpPr>
        <p:spPr>
          <a:xfrm>
            <a:off x="7589519" y="233172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15" name="Rounded Rectangle 14"/>
          <p:cNvSpPr/>
          <p:nvPr/>
        </p:nvSpPr>
        <p:spPr>
          <a:xfrm>
            <a:off x="7955279" y="214884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79" y="235000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1</a:t>
            </a:r>
          </a:p>
        </p:txBody>
      </p:sp>
      <p:sp>
        <p:nvSpPr>
          <p:cNvPr id="17" name="TextBox 16"/>
          <p:cNvSpPr txBox="1"/>
          <p:nvPr/>
        </p:nvSpPr>
        <p:spPr>
          <a:xfrm>
            <a:off x="685800" y="4114800"/>
            <a:ext cx="1828800" cy="320040"/>
          </a:xfrm>
          <a:prstGeom prst="rect">
            <a:avLst/>
          </a:prstGeom>
          <a:noFill/>
        </p:spPr>
        <p:txBody>
          <a:bodyPr wrap="square" lIns="45720" rIns="45720" anchor="t">
            <a:spAutoFit/>
          </a:bodyPr>
          <a:lstStyle/>
          <a:p>
            <a:pPr algn="l">
              <a:defRPr sz="1600" b="1">
                <a:solidFill>
                  <a:srgbClr val="EE765C"/>
                </a:solidFill>
                <a:latin typeface="Aptos"/>
              </a:defRPr>
            </a:pPr>
            <a:r>
              <a:t>Tuned DNN</a:t>
            </a:r>
          </a:p>
        </p:txBody>
      </p:sp>
      <p:sp>
        <p:nvSpPr>
          <p:cNvPr id="18" name="Rounded Rectangle 17"/>
          <p:cNvSpPr/>
          <p:nvPr/>
        </p:nvSpPr>
        <p:spPr>
          <a:xfrm>
            <a:off x="2331720" y="416052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31720" y="436168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74 inputs</a:t>
            </a:r>
          </a:p>
        </p:txBody>
      </p:sp>
      <p:sp>
        <p:nvSpPr>
          <p:cNvPr id="20" name="TextBox 19"/>
          <p:cNvSpPr txBox="1"/>
          <p:nvPr/>
        </p:nvSpPr>
        <p:spPr>
          <a:xfrm>
            <a:off x="3840479" y="434340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21" name="Rounded Rectangle 20"/>
          <p:cNvSpPr/>
          <p:nvPr/>
        </p:nvSpPr>
        <p:spPr>
          <a:xfrm>
            <a:off x="4206240" y="416052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06240" y="436168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128</a:t>
            </a:r>
          </a:p>
        </p:txBody>
      </p:sp>
      <p:sp>
        <p:nvSpPr>
          <p:cNvPr id="23" name="TextBox 22"/>
          <p:cNvSpPr txBox="1"/>
          <p:nvPr/>
        </p:nvSpPr>
        <p:spPr>
          <a:xfrm>
            <a:off x="5715000" y="434340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24" name="Rounded Rectangle 23"/>
          <p:cNvSpPr/>
          <p:nvPr/>
        </p:nvSpPr>
        <p:spPr>
          <a:xfrm>
            <a:off x="6080759" y="416052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80759" y="436168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64</a:t>
            </a:r>
          </a:p>
        </p:txBody>
      </p:sp>
      <p:sp>
        <p:nvSpPr>
          <p:cNvPr id="26" name="TextBox 25"/>
          <p:cNvSpPr txBox="1"/>
          <p:nvPr/>
        </p:nvSpPr>
        <p:spPr>
          <a:xfrm>
            <a:off x="7589519" y="4343400"/>
            <a:ext cx="274320" cy="274320"/>
          </a:xfrm>
          <a:prstGeom prst="rect">
            <a:avLst/>
          </a:prstGeom>
          <a:noFill/>
        </p:spPr>
        <p:txBody>
          <a:bodyPr wrap="square" lIns="45720" rIns="45720" anchor="t">
            <a:spAutoFit/>
          </a:bodyPr>
          <a:lstStyle/>
          <a:p>
            <a:pPr algn="l">
              <a:defRPr sz="1700" b="1">
                <a:solidFill>
                  <a:srgbClr val="6A7580"/>
                </a:solidFill>
                <a:latin typeface="Aptos"/>
              </a:defRPr>
            </a:pPr>
            <a:r>
              <a:t>→</a:t>
            </a:r>
          </a:p>
        </p:txBody>
      </p:sp>
      <p:sp>
        <p:nvSpPr>
          <p:cNvPr id="27" name="Rounded Rectangle 26"/>
          <p:cNvSpPr/>
          <p:nvPr/>
        </p:nvSpPr>
        <p:spPr>
          <a:xfrm>
            <a:off x="7955279" y="4160520"/>
            <a:ext cx="1417320" cy="713232"/>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55279" y="4361688"/>
            <a:ext cx="1417320" cy="274320"/>
          </a:xfrm>
          <a:prstGeom prst="rect">
            <a:avLst/>
          </a:prstGeom>
          <a:noFill/>
        </p:spPr>
        <p:txBody>
          <a:bodyPr wrap="square" lIns="45720" rIns="45720" anchor="t">
            <a:spAutoFit/>
          </a:bodyPr>
          <a:lstStyle/>
          <a:p>
            <a:pPr algn="ctr">
              <a:defRPr sz="1400" b="1">
                <a:solidFill>
                  <a:srgbClr val="2D353D"/>
                </a:solidFill>
                <a:latin typeface="Aptos"/>
              </a:defRPr>
            </a:pPr>
            <a:r>
              <a:t>1</a:t>
            </a:r>
          </a:p>
        </p:txBody>
      </p:sp>
      <p:sp>
        <p:nvSpPr>
          <p:cNvPr id="29" name="TextBox 28"/>
          <p:cNvSpPr txBox="1"/>
          <p:nvPr/>
        </p:nvSpPr>
        <p:spPr>
          <a:xfrm>
            <a:off x="777240" y="5577840"/>
            <a:ext cx="10515600" cy="548640"/>
          </a:xfrm>
          <a:prstGeom prst="rect">
            <a:avLst/>
          </a:prstGeom>
          <a:noFill/>
        </p:spPr>
        <p:txBody>
          <a:bodyPr wrap="square" lIns="45720" rIns="45720" anchor="t">
            <a:spAutoFit/>
          </a:bodyPr>
          <a:lstStyle/>
          <a:p>
            <a:pPr algn="ctr">
              <a:defRPr sz="1500" b="0">
                <a:solidFill>
                  <a:srgbClr val="2D353D"/>
                </a:solidFill>
                <a:latin typeface="Aptos"/>
              </a:defRPr>
            </a:pPr>
            <a:r>
              <a:t>Both models used ReLU hidden layers, 20% dropout, sigmoid output, validation monitoring, and early stopping with best weights restored.</a:t>
            </a:r>
          </a:p>
        </p:txBody>
      </p:sp>
      <p:sp>
        <p:nvSpPr>
          <p:cNvPr id="30" name="TextBox 29"/>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3200400" cy="274320"/>
          </a:xfrm>
          <a:prstGeom prst="rect">
            <a:avLst/>
          </a:prstGeom>
          <a:noFill/>
        </p:spPr>
        <p:txBody>
          <a:bodyPr wrap="square" lIns="45720" rIns="45720" anchor="t">
            <a:spAutoFit/>
          </a:bodyPr>
          <a:lstStyle/>
          <a:p>
            <a:pPr algn="l">
              <a:defRPr sz="1000" b="1">
                <a:solidFill>
                  <a:srgbClr val="1E8486"/>
                </a:solidFill>
                <a:latin typeface="Aptos"/>
              </a:defRPr>
            </a:pPr>
            <a:r>
              <a:rPr sz="1200" dirty="0"/>
              <a:t>APPENDIX</a:t>
            </a:r>
          </a:p>
        </p:txBody>
      </p:sp>
      <p:sp>
        <p:nvSpPr>
          <p:cNvPr id="3" name="TextBox 2"/>
          <p:cNvSpPr txBox="1"/>
          <p:nvPr/>
        </p:nvSpPr>
        <p:spPr>
          <a:xfrm>
            <a:off x="640080" y="713232"/>
            <a:ext cx="10881360" cy="640080"/>
          </a:xfrm>
          <a:prstGeom prst="rect">
            <a:avLst/>
          </a:prstGeom>
          <a:noFill/>
        </p:spPr>
        <p:txBody>
          <a:bodyPr wrap="square" lIns="45720" rIns="45720" anchor="t">
            <a:spAutoFit/>
          </a:bodyPr>
          <a:lstStyle/>
          <a:p>
            <a:pPr algn="l">
              <a:defRPr sz="2700" b="1">
                <a:solidFill>
                  <a:srgbClr val="2D353D"/>
                </a:solidFill>
                <a:latin typeface="Aptos"/>
              </a:defRPr>
            </a:pPr>
            <a:r>
              <a:t>Data and project notes</a:t>
            </a:r>
          </a:p>
        </p:txBody>
      </p:sp>
      <p:sp>
        <p:nvSpPr>
          <p:cNvPr id="4" name="Rectangle 3"/>
          <p:cNvSpPr/>
          <p:nvPr/>
        </p:nvSpPr>
        <p:spPr>
          <a:xfrm>
            <a:off x="640080" y="1847088"/>
            <a:ext cx="1005840" cy="45720"/>
          </a:xfrm>
          <a:prstGeom prst="rect">
            <a:avLst/>
          </a:prstGeom>
          <a:solidFill>
            <a:srgbClr val="1E8486"/>
          </a:solidFill>
          <a:ln>
            <a:solidFill>
              <a:srgbClr val="1E84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2057400"/>
            <a:ext cx="10607040" cy="3520440"/>
          </a:xfrm>
          <a:prstGeom prst="roundRect">
            <a:avLst/>
          </a:prstGeom>
          <a:solidFill>
            <a:srgbClr val="FFFFFF"/>
          </a:solidFill>
          <a:ln>
            <a:solidFill>
              <a:srgbClr val="E5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313432"/>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7" name="TextBox 6"/>
          <p:cNvSpPr txBox="1"/>
          <p:nvPr/>
        </p:nvSpPr>
        <p:spPr>
          <a:xfrm>
            <a:off x="1307592" y="2322576"/>
            <a:ext cx="9829800" cy="658368"/>
          </a:xfrm>
          <a:prstGeom prst="rect">
            <a:avLst/>
          </a:prstGeom>
          <a:noFill/>
        </p:spPr>
        <p:txBody>
          <a:bodyPr wrap="square" lIns="45720" rIns="45720" anchor="t">
            <a:spAutoFit/>
          </a:bodyPr>
          <a:lstStyle/>
          <a:p>
            <a:pPr algn="l">
              <a:defRPr sz="1400" b="0">
                <a:solidFill>
                  <a:srgbClr val="2D353D"/>
                </a:solidFill>
                <a:latin typeface="Aptos"/>
              </a:defRPr>
            </a:pPr>
            <a:r>
              <a:t>Dataset: Online Shoppers Purchasing Intention Dataset, UCI Machine Learning Repository.</a:t>
            </a:r>
          </a:p>
        </p:txBody>
      </p:sp>
      <p:sp>
        <p:nvSpPr>
          <p:cNvPr id="8" name="TextBox 7"/>
          <p:cNvSpPr txBox="1"/>
          <p:nvPr/>
        </p:nvSpPr>
        <p:spPr>
          <a:xfrm>
            <a:off x="1005840" y="3154680"/>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9" name="TextBox 8"/>
          <p:cNvSpPr txBox="1"/>
          <p:nvPr/>
        </p:nvSpPr>
        <p:spPr>
          <a:xfrm>
            <a:off x="1307592" y="3163824"/>
            <a:ext cx="9829800" cy="658368"/>
          </a:xfrm>
          <a:prstGeom prst="rect">
            <a:avLst/>
          </a:prstGeom>
          <a:noFill/>
        </p:spPr>
        <p:txBody>
          <a:bodyPr wrap="square" lIns="45720" rIns="45720" anchor="t">
            <a:spAutoFit/>
          </a:bodyPr>
          <a:lstStyle/>
          <a:p>
            <a:pPr algn="l">
              <a:defRPr sz="1400" b="0">
                <a:solidFill>
                  <a:srgbClr val="2D353D"/>
                </a:solidFill>
                <a:latin typeface="Aptos"/>
              </a:defRPr>
            </a:pPr>
            <a:r>
              <a:t>Each observation represents an individual online shopping session.</a:t>
            </a:r>
          </a:p>
        </p:txBody>
      </p:sp>
      <p:sp>
        <p:nvSpPr>
          <p:cNvPr id="10" name="TextBox 9"/>
          <p:cNvSpPr txBox="1"/>
          <p:nvPr/>
        </p:nvSpPr>
        <p:spPr>
          <a:xfrm>
            <a:off x="1005840" y="3995928"/>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11" name="TextBox 10"/>
          <p:cNvSpPr txBox="1"/>
          <p:nvPr/>
        </p:nvSpPr>
        <p:spPr>
          <a:xfrm>
            <a:off x="1307592" y="4005072"/>
            <a:ext cx="9829800" cy="658368"/>
          </a:xfrm>
          <a:prstGeom prst="rect">
            <a:avLst/>
          </a:prstGeom>
          <a:noFill/>
        </p:spPr>
        <p:txBody>
          <a:bodyPr wrap="square" lIns="45720" rIns="45720" anchor="t">
            <a:spAutoFit/>
          </a:bodyPr>
          <a:lstStyle/>
          <a:p>
            <a:pPr algn="l">
              <a:defRPr sz="1400" b="0">
                <a:solidFill>
                  <a:srgbClr val="2D353D"/>
                </a:solidFill>
                <a:latin typeface="Aptos"/>
              </a:defRPr>
            </a:pPr>
            <a:r>
              <a:t>The final model was evaluated on a held-out test set of 2,466 observations.</a:t>
            </a:r>
          </a:p>
        </p:txBody>
      </p:sp>
      <p:sp>
        <p:nvSpPr>
          <p:cNvPr id="12" name="TextBox 11"/>
          <p:cNvSpPr txBox="1"/>
          <p:nvPr/>
        </p:nvSpPr>
        <p:spPr>
          <a:xfrm>
            <a:off x="1005840" y="4837176"/>
            <a:ext cx="228600" cy="320040"/>
          </a:xfrm>
          <a:prstGeom prst="rect">
            <a:avLst/>
          </a:prstGeom>
          <a:noFill/>
        </p:spPr>
        <p:txBody>
          <a:bodyPr wrap="square" lIns="45720" rIns="45720" anchor="t">
            <a:spAutoFit/>
          </a:bodyPr>
          <a:lstStyle/>
          <a:p>
            <a:pPr algn="l">
              <a:defRPr sz="1600" b="1">
                <a:solidFill>
                  <a:srgbClr val="1E8486"/>
                </a:solidFill>
                <a:latin typeface="Aptos"/>
              </a:defRPr>
            </a:pPr>
            <a:r>
              <a:t>•</a:t>
            </a:r>
          </a:p>
        </p:txBody>
      </p:sp>
      <p:sp>
        <p:nvSpPr>
          <p:cNvPr id="13" name="TextBox 12"/>
          <p:cNvSpPr txBox="1"/>
          <p:nvPr/>
        </p:nvSpPr>
        <p:spPr>
          <a:xfrm>
            <a:off x="1307592" y="4846320"/>
            <a:ext cx="9829800" cy="658368"/>
          </a:xfrm>
          <a:prstGeom prst="rect">
            <a:avLst/>
          </a:prstGeom>
          <a:noFill/>
        </p:spPr>
        <p:txBody>
          <a:bodyPr wrap="square" lIns="45720" rIns="45720" anchor="t">
            <a:spAutoFit/>
          </a:bodyPr>
          <a:lstStyle/>
          <a:p>
            <a:pPr algn="l">
              <a:defRPr sz="1400" b="0">
                <a:solidFill>
                  <a:srgbClr val="2D353D"/>
                </a:solidFill>
                <a:latin typeface="Aptos"/>
              </a:defRPr>
            </a:pPr>
            <a:r>
              <a:t>PageValues was retained because it is commonly used in prior analyses, but its timing may limit certain real-time use cases.</a:t>
            </a:r>
          </a:p>
        </p:txBody>
      </p:sp>
      <p:sp>
        <p:nvSpPr>
          <p:cNvPr id="15" name="TextBox 14"/>
          <p:cNvSpPr txBox="1"/>
          <p:nvPr/>
        </p:nvSpPr>
        <p:spPr>
          <a:xfrm>
            <a:off x="11475720" y="6510528"/>
            <a:ext cx="274320" cy="182880"/>
          </a:xfrm>
          <a:prstGeom prst="rect">
            <a:avLst/>
          </a:prstGeom>
          <a:noFill/>
        </p:spPr>
        <p:txBody>
          <a:bodyPr wrap="square" lIns="45720" rIns="45720" anchor="t">
            <a:spAutoFit/>
          </a:bodyPr>
          <a:lstStyle/>
          <a:p>
            <a:pPr algn="r">
              <a:defRPr sz="800" b="0">
                <a:solidFill>
                  <a:srgbClr val="6A7580"/>
                </a:solidFill>
                <a:latin typeface="Aptos"/>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TotalTime>
  <Words>1580</Words>
  <Application>Microsoft Office PowerPoint</Application>
  <PresentationFormat>Widescreen</PresentationFormat>
  <Paragraphs>335</Paragraphs>
  <Slides>21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dc:creator>
  <cp:keywords/>
  <dc:description>generated using python-pptx</dc:description>
  <cp:lastModifiedBy>Abhimanyu Kumbara</cp:lastModifiedBy>
  <cp:revision>9</cp:revision>
  <dcterms:created xsi:type="dcterms:W3CDTF">2013-01-27T09:14:16Z</dcterms:created>
  <dcterms:modified xsi:type="dcterms:W3CDTF">2026-08-19T19:01:02Z</dcterms:modified>
  <cp:category/>
</cp:coreProperties>
</file>